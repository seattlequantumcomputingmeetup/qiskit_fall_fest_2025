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962" r:id="rId1"/>
  </p:sldMasterIdLst>
  <p:notesMasterIdLst>
    <p:notesMasterId r:id="rId9"/>
  </p:notesMasterIdLst>
  <p:handoutMasterIdLst>
    <p:handoutMasterId r:id="rId10"/>
  </p:handoutMasterIdLst>
  <p:sldIdLst>
    <p:sldId id="257" r:id="rId2"/>
    <p:sldId id="405" r:id="rId3"/>
    <p:sldId id="421" r:id="rId4"/>
    <p:sldId id="640" r:id="rId5"/>
    <p:sldId id="641" r:id="rId6"/>
    <p:sldId id="632" r:id="rId7"/>
    <p:sldId id="624" r:id="rId8"/>
  </p:sldIdLst>
  <p:sldSz cx="24387175" cy="13716000"/>
  <p:notesSz cx="6858000" cy="9144000"/>
  <p:defaultTextStyle>
    <a:defPPr>
      <a:defRPr lang="en-US"/>
    </a:defPPr>
    <a:lvl1pPr marL="0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68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937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406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875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344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813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282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751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Options" id="{161364A9-2106-084F-BFD9-DE7ABBB6242C}">
          <p14:sldIdLst/>
        </p14:section>
        <p14:section name="Template slides" id="{4700659D-582D-3B47-8AF6-59C9324AA29A}">
          <p14:sldIdLst>
            <p14:sldId id="257"/>
            <p14:sldId id="405"/>
            <p14:sldId id="421"/>
            <p14:sldId id="640"/>
            <p14:sldId id="641"/>
            <p14:sldId id="632"/>
            <p14:sldId id="624"/>
          </p14:sldIdLst>
        </p14:section>
        <p14:section name="Selected Pictograms" id="{A71DFE44-60A9-FA4A-8A00-EEDEE7195C5C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7077"/>
    <a:srgbClr val="FF7EB6"/>
    <a:srgbClr val="BE95FF"/>
    <a:srgbClr val="21272A"/>
    <a:srgbClr val="1216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28"/>
    <p:restoredTop sz="96327"/>
  </p:normalViewPr>
  <p:slideViewPr>
    <p:cSldViewPr snapToGrid="0" snapToObjects="1">
      <p:cViewPr varScale="1">
        <p:scale>
          <a:sx n="63" d="100"/>
          <a:sy n="63" d="100"/>
        </p:scale>
        <p:origin x="32" y="272"/>
      </p:cViewPr>
      <p:guideLst/>
    </p:cSldViewPr>
  </p:slideViewPr>
  <p:outlineViewPr>
    <p:cViewPr>
      <p:scale>
        <a:sx n="33" d="100"/>
        <a:sy n="33" d="100"/>
      </p:scale>
      <p:origin x="-56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charset="0"/>
                <a:cs typeface="IBM Plex Sans Light" charset="0"/>
              </a:rPr>
              <a:pPr algn="l"/>
              <a:t>‹#›</a:t>
            </a:fld>
            <a:endParaRPr lang="en-US" sz="600">
              <a:solidFill>
                <a:schemeClr val="bg1"/>
              </a:solidFill>
              <a:latin typeface="IBM Plex Sans Light" panose="020B0503050203000203" pitchFamily="34" charset="0"/>
              <a:ea typeface="IBM Plex Sans Light" charset="0"/>
              <a:cs typeface="IBM Plex Sans Light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>
                <a:solidFill>
                  <a:schemeClr val="bg1"/>
                </a:solidFill>
                <a:latin typeface="IBM Plex Sans Light" panose="020B0503050203000203" pitchFamily="34" charset="0"/>
                <a:ea typeface="IBM Plex Sans Light" charset="0"/>
                <a:cs typeface="IBM Plex Sans Light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6710" y="228600"/>
            <a:ext cx="6419088" cy="3612324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06710" y="4087090"/>
            <a:ext cx="6419088" cy="4320309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021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600" b="0" i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panose="020B0503050203000203" pitchFamily="34" charset="0"/>
                <a:cs typeface="IBM Plex Sans Light" panose="020B0503050203000203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1945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panose="020B0503050203000203" pitchFamily="34" charset="0"/>
                <a:cs typeface="IBM Plex Sans Light" panose="020B0503050203000203" pitchFamily="34" charset="0"/>
              </a:defRPr>
            </a:lvl1pPr>
          </a:lstStyle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2438522" rtl="0" eaLnBrk="1" latinLnBrk="0" hangingPunct="1">
      <a:lnSpc>
        <a:spcPct val="110000"/>
      </a:lnSpc>
      <a:spcBef>
        <a:spcPts val="0"/>
      </a:spcBef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1pPr>
    <a:lvl2pPr marL="465690" indent="-452991" algn="l" defTabSz="2438522" rtl="0" eaLnBrk="1" latinLnBrk="0" hangingPunct="1">
      <a:lnSpc>
        <a:spcPct val="110000"/>
      </a:lnSpc>
      <a:spcBef>
        <a:spcPts val="0"/>
      </a:spcBef>
      <a:buFont typeface="IBM Plex Sans"/>
      <a:buChar char="–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2pPr>
    <a:lvl3pPr marL="926638" indent="-463319" algn="l" defTabSz="2438522" rtl="0" eaLnBrk="1" latinLnBrk="0" hangingPunct="1">
      <a:lnSpc>
        <a:spcPct val="110000"/>
      </a:lnSpc>
      <a:spcBef>
        <a:spcPts val="0"/>
      </a:spcBef>
      <a:buFont typeface="IBM Plex Sans Light" panose="020B0604020202020204" pitchFamily="34" charset="0"/>
      <a:buChar char="•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3pPr>
    <a:lvl4pPr marL="1682580" indent="-463319" algn="l" defTabSz="2438522" rtl="0" eaLnBrk="1" latinLnBrk="0" hangingPunct="1">
      <a:lnSpc>
        <a:spcPct val="110000"/>
      </a:lnSpc>
      <a:spcBef>
        <a:spcPts val="0"/>
      </a:spcBef>
      <a:buFont typeface="IBM Plex Sans Light"/>
      <a:buChar char="–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4pPr>
    <a:lvl5pPr marL="465690" marR="0" indent="-452991" algn="l" defTabSz="2438522" rtl="0" eaLnBrk="1" fontAlgn="base" latinLnBrk="0" hangingPunct="1">
      <a:lnSpc>
        <a:spcPct val="100000"/>
      </a:lnSpc>
      <a:spcBef>
        <a:spcPts val="1600"/>
      </a:spcBef>
      <a:spcAft>
        <a:spcPct val="0"/>
      </a:spcAft>
      <a:buClr>
        <a:srgbClr val="000000"/>
      </a:buClr>
      <a:buSzTx/>
      <a:buFont typeface="IBM Plex Sans Light" charset="-120"/>
      <a:buChar char="»"/>
      <a:tabLst/>
      <a:defRPr sz="20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5pPr>
    <a:lvl6pPr marL="6096305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7315566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8534827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9754088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717028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 descr="Place imagery here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24387175" cy="12001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8" cy="6288087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2" y="12088368"/>
            <a:ext cx="4937887" cy="1143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084739"/>
            <a:ext cx="4937887" cy="1143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8" name="Picture 7" descr="IBM 8-bar logo">
            <a:extLst>
              <a:ext uri="{FF2B5EF4-FFF2-40B4-BE49-F238E27FC236}">
                <a16:creationId xmlns:a16="http://schemas.microsoft.com/office/drawing/2014/main" id="{418F6040-10C6-A4A5-7C1E-09A9F553C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79951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795180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9" cy="4573587"/>
          </a:xfrm>
        </p:spPr>
        <p:txBody>
          <a:bodyPr/>
          <a:lstStyle>
            <a:lvl1pPr>
              <a:lnSpc>
                <a:spcPct val="100000"/>
              </a:lnSpc>
              <a:defRPr sz="8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D1A09496-D938-6EB1-106C-48C5E423EA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79951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878651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8" cy="4573587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6072" y="12463272"/>
            <a:ext cx="11050588" cy="762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6C5E26C6-9CEF-2A61-0C64-FAACB68F53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79951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174950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0101072" cy="10479087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500" y="569913"/>
            <a:ext cx="11049000" cy="12574587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pic>
        <p:nvPicPr>
          <p:cNvPr id="9" name="Picture 8" descr="IBM 8-bar logo">
            <a:extLst>
              <a:ext uri="{FF2B5EF4-FFF2-40B4-BE49-F238E27FC236}">
                <a16:creationId xmlns:a16="http://schemas.microsoft.com/office/drawing/2014/main" id="{735CD4FC-3A11-28F6-09EF-9089FE9596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7850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61400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576072"/>
            <a:ext cx="10099675" cy="571500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1527048"/>
            <a:ext cx="10099675" cy="9337675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500" y="569913"/>
            <a:ext cx="11049000" cy="12574587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EEE0A3D1-7815-E46E-77D1-E2DC099B47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7850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209367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4956175" cy="4573587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3500" y="569913"/>
            <a:ext cx="4953000" cy="11431587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862675" y="569913"/>
            <a:ext cx="4949825" cy="11431587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303940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8" cy="2859087"/>
          </a:xfrm>
        </p:spPr>
        <p:txBody>
          <a:bodyPr rIns="457200"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289B0F8-E9A7-CF76-E87F-8D4302E8DA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A4B74093-A800-CB62-8607-A04D569204E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839104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675" y="420624"/>
            <a:ext cx="17141825" cy="8191500"/>
          </a:xfrm>
        </p:spPr>
        <p:txBody>
          <a:bodyPr/>
          <a:lstStyle>
            <a:lvl1pPr>
              <a:defRPr sz="17200" b="0" i="0">
                <a:solidFill>
                  <a:schemeClr val="tx2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C591478-AD3F-2EF7-29A4-36A887DC195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76697187-0170-8894-23C9-28F80A0C3B2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80837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9909175" cy="2859087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7252" y="448056"/>
            <a:ext cx="11042073" cy="8574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 marL="585216" indent="-585216"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2pPr>
            <a:lvl3pPr marL="1097280" indent="-585216"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3pPr>
            <a:lvl4pPr marL="1755648"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E5947E-6D4A-9E09-E5A6-D31DBCAEE2C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82E6DCD-41A5-9DA3-C061-E8DA39B9905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06079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420624"/>
            <a:ext cx="14662150" cy="9717087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FCFA7EA-8E9F-E01B-AB9C-B7BE7D3D11E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2510822-3D1B-0CFC-3FF0-1E55DA550F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603199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2" y="576072"/>
            <a:ext cx="7623175" cy="6288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6072" y="9299448"/>
            <a:ext cx="11050588" cy="354330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800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↗︎00M</a:t>
            </a:r>
          </a:p>
        </p:txBody>
      </p:sp>
      <p:cxnSp>
        <p:nvCxnSpPr>
          <p:cNvPr id="9" name="Straight Connector 8" descr="Vertical column divider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/>
          <p:nvPr userDrawn="1"/>
        </p:nvCxnSpPr>
        <p:spPr bwMode="auto">
          <a:xfrm>
            <a:off x="12193587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3500" y="576072"/>
            <a:ext cx="7620000" cy="6288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63500" y="9296400"/>
            <a:ext cx="11049000" cy="354330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800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+00%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F3E002C-97C5-3260-CB49-7E93DF3397C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60DC6C8-AF18-F14B-A164-C49B271F59A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478196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8590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429768"/>
            <a:ext cx="4951413" cy="1907912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2333068"/>
            <a:ext cx="4951413" cy="967304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768263" y="426481"/>
            <a:ext cx="4949825" cy="1906588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2334654"/>
            <a:ext cx="4953000" cy="966684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859500" y="429654"/>
            <a:ext cx="4949825" cy="1903413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2333067"/>
            <a:ext cx="4953000" cy="966684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2042775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5DBF980-9C8F-3F7A-E896-C207BA2781B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5A7B871-06B9-0A3F-4D1D-A14D572C26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368050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675" y="402336"/>
            <a:ext cx="4949825" cy="5335588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402336"/>
            <a:ext cx="11049000" cy="53355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/>
          <p:nvPr userDrawn="1"/>
        </p:nvCxnSpPr>
        <p:spPr bwMode="auto">
          <a:xfrm>
            <a:off x="56832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4675" y="6477000"/>
            <a:ext cx="4949825" cy="5334000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+000M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7500" y="6477000"/>
            <a:ext cx="11049000" cy="533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837D060-1DA4-2AC5-AC63-E1AFDD16370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3EE9E1A-5619-752E-836B-A127FD2C7D7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764434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8590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411480"/>
            <a:ext cx="4951413" cy="2859087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6072"/>
            <a:ext cx="7620000" cy="2859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7" name="Straight Connector 16" descr="Horizontal row divider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6667500" y="4000500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7500" y="4187952"/>
            <a:ext cx="4951413" cy="2857506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4381500"/>
            <a:ext cx="7620000" cy="2857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5" name="Straight Connector 14" descr="Horizontal row divider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6667500" y="8191500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67501" y="8403336"/>
            <a:ext cx="4951411" cy="2857506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8572500"/>
            <a:ext cx="7620000" cy="2857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2042775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5C67502-D618-DC10-9CCC-905693ABB58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022EFDDC-A614-EFF6-CE30-E60F4DB9F75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111609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3429000"/>
            <a:ext cx="4956175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429000"/>
            <a:ext cx="495935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BB77C83-5304-5E09-3590-D4337DA42A4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78A9E4F-B41B-2A68-ED74-D619432AAB2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313497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7500" y="576072"/>
            <a:ext cx="4956175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239EA8E-6B4C-405F-E7F6-ABB450E0710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9437" y="3429000"/>
            <a:ext cx="4951413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3429000"/>
            <a:ext cx="0" cy="857250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1" name="Straight Connector 20" descr="Vertical column divider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12188952" y="3429000"/>
            <a:ext cx="0" cy="8577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2" name="Straight Connector 21" descr="Vertical column divider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18288000" y="3429000"/>
            <a:ext cx="0" cy="8577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429000"/>
            <a:ext cx="495935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9EE7B3-BC6A-6676-8FA2-607F9B08DA3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DB52D7E1-3828-A1B9-9239-637B1E2A543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310234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/>
          <p:nvPr userDrawn="1"/>
        </p:nvCxnSpPr>
        <p:spPr bwMode="auto">
          <a:xfrm>
            <a:off x="6096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7500" y="576072"/>
            <a:ext cx="4956175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429000"/>
            <a:ext cx="495935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3F3A850-F28F-F30E-5505-EA11791B052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96005D4-0874-989F-217D-8A2592F81D5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707034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097087"/>
          </a:xfrm>
        </p:spPr>
        <p:txBody>
          <a:bodyPr/>
          <a:lstStyle>
            <a:lvl1pPr>
              <a:lnSpc>
                <a:spcPct val="11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3429000"/>
            <a:ext cx="4956175" cy="40005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 descr="Vertical column divider">
            <a:extLst>
              <a:ext uri="{FF2B5EF4-FFF2-40B4-BE49-F238E27FC236}">
                <a16:creationId xmlns:a16="http://schemas.microsoft.com/office/drawing/2014/main" id="{4D695107-5427-4D2D-F88F-89BA74127CBF}"/>
              </a:ext>
            </a:extLst>
          </p:cNvPr>
          <p:cNvCxnSpPr/>
          <p:nvPr userDrawn="1"/>
        </p:nvCxnSpPr>
        <p:spPr bwMode="auto">
          <a:xfrm>
            <a:off x="6096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Picture Placeholder 13" descr="Place pictogram here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67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43B07B4A-5DB5-8126-EA79-502787053E82}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Picture Placeholder 13" descr="Place pictogram here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76353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8031" y="3429000"/>
            <a:ext cx="494212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4D829559-0A72-8826-E06A-C6CCD39750A4}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Picture Placeholder 13" descr="Place pictogram here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859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1" y="3429000"/>
            <a:ext cx="4952999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782CF-665F-3C56-698C-16112EB19B2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2A45AB7-102C-FBDF-94FD-99783B6A5A1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899409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4949825" cy="1141412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5976" y="384048"/>
            <a:ext cx="4956175" cy="1141412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2800"/>
            </a:lvl2pPr>
            <a:lvl3pPr>
              <a:spcBef>
                <a:spcPts val="0"/>
              </a:spcBef>
              <a:defRPr sz="2800"/>
            </a:lvl3pPr>
            <a:lvl4pPr>
              <a:spcBef>
                <a:spcPts val="0"/>
              </a:spcBef>
              <a:defRPr sz="2800"/>
            </a:lvl4pPr>
            <a:lvl5pPr>
              <a:spcBef>
                <a:spcPts val="0"/>
              </a:spcBef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429000"/>
            <a:ext cx="10096500" cy="8572500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3B922-FA59-5165-48BF-0B57DFD6634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C3B405E-94D1-4A09-C6BF-A66D9CBEF63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649678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7424927" cy="19065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3429000"/>
            <a:ext cx="10099675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3429000"/>
            <a:ext cx="100965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A0F4B3-D63C-0D8F-2804-F97776F90E4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38EC09FB-402F-F3CE-E1D2-51583F1BCCF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945124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45825" cy="4573587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3500" y="576072"/>
            <a:ext cx="4953000" cy="11431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59500" y="576072"/>
            <a:ext cx="4953000" cy="11431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7A51FE3-0F54-1487-47B4-164B5B802CA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821703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53000" cy="4573587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3500" y="569913"/>
            <a:ext cx="4953000" cy="11431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59500" y="569913"/>
            <a:ext cx="4953000" cy="11431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745FF4F8-7F82-E9C2-8046-C791019E169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956051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39476" cy="4573587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9BFC0CA6-CE6F-D94C-2967-FBF2240020C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70831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6" cy="4573587"/>
          </a:xfrm>
        </p:spPr>
        <p:txBody>
          <a:bodyPr rIns="0"/>
          <a:lstStyle>
            <a:lvl1pPr>
              <a:lnSpc>
                <a:spcPct val="10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5850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8CF1D655-1791-BEF3-D8AA-E589057E73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240754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4949825" cy="1141413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1" y="384048"/>
            <a:ext cx="4956175" cy="1141412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2800"/>
            </a:lvl2pPr>
            <a:lvl3pPr>
              <a:lnSpc>
                <a:spcPct val="90000"/>
              </a:lnSpc>
              <a:spcBef>
                <a:spcPts val="0"/>
              </a:spcBef>
              <a:defRPr sz="2800"/>
            </a:lvl3pPr>
            <a:lvl4pPr>
              <a:lnSpc>
                <a:spcPct val="90000"/>
              </a:lnSpc>
              <a:spcBef>
                <a:spcPts val="0"/>
              </a:spcBef>
              <a:defRPr sz="2800"/>
            </a:lvl4pPr>
            <a:lvl5pPr>
              <a:lnSpc>
                <a:spcPct val="90000"/>
              </a:lnSpc>
              <a:spcBef>
                <a:spcPts val="0"/>
              </a:spcBef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202744BD-C7A4-D538-2E19-AA279C025A21}"/>
              </a:ext>
            </a:extLst>
          </p:cNvPr>
          <p:cNvCxnSpPr/>
          <p:nvPr userDrawn="1"/>
        </p:nvCxnSpPr>
        <p:spPr bwMode="auto">
          <a:xfrm>
            <a:off x="12188952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Picture Placeholder 4" descr="Place pictogram here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2763500" y="576072"/>
            <a:ext cx="1216152" cy="121446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638" y="3429000"/>
            <a:ext cx="495300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ADCE883F-3781-7F7E-8236-8BB5CEBAD77C}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 descr="Place pictogram here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8859500" y="576072"/>
            <a:ext cx="1217844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3638" y="3429000"/>
            <a:ext cx="495935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B96A2B-2DD4-AEBB-75C4-9215E33D266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FE28AB83-26B6-464D-000B-077BBC18861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412524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 descr="Place pictogram here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6072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2478024"/>
            <a:ext cx="6670675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00A530A6-2F26-DA70-D0D9-6DD90453CEC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2192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Picture Placeholder 14" descr="Place pictogram here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63500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2476500"/>
            <a:ext cx="666750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9C5483A0-0E31-72CE-21C3-6248FAEBC0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56832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6" descr="Place pictogram here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6072" y="6473951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" y="8385048"/>
            <a:ext cx="6670676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18" descr="Place pictogram here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63500" y="647700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1" y="8382000"/>
            <a:ext cx="666750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07BB90E-D2B7-D6BA-E8F5-B16C3F57F6F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FDDCE3A8-54F6-70FC-38D0-2AF2D8AB71E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496384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72" y="576072"/>
            <a:ext cx="4956175" cy="1141412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1682496"/>
            <a:ext cx="5715000" cy="2276856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5024" y="576072"/>
            <a:ext cx="495300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CE92126-B67C-8301-95D0-A821B8043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33241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72" y="576072"/>
            <a:ext cx="4956175" cy="448056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1527048"/>
            <a:ext cx="11044239" cy="2276856"/>
          </a:xfrm>
        </p:spPr>
        <p:txBody>
          <a:bodyPr rIns="457200"/>
          <a:lstStyle>
            <a:lvl1pPr>
              <a:lnSpc>
                <a:spcPct val="11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69913"/>
            <a:ext cx="495300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69913"/>
            <a:ext cx="495935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8351E8F-C586-866F-37A3-340B3DD347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810613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56175" cy="4573587"/>
          </a:xfrm>
        </p:spPr>
        <p:txBody>
          <a:bodyPr/>
          <a:lstStyle>
            <a:lvl1pPr>
              <a:lnSpc>
                <a:spcPct val="10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56832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3241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D0BCD34-4CA7-388C-5244-7DC8F9F36F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362297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9" cy="4573587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56832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591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38163DF-77AB-875A-C8AC-2F8AEABFB85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828484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4573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65976" y="576072"/>
            <a:ext cx="495300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B1A268B-43F5-F600-93B7-6248877F5D3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69151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4BD59-9F51-7E32-8659-A763D0799EB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180E7AB4-F0E4-7C09-7FE7-9F182217FE0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056091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859087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24" name="Straight Connector 23" descr="Vertical column divider">
            <a:extLst>
              <a:ext uri="{FF2B5EF4-FFF2-40B4-BE49-F238E27FC236}">
                <a16:creationId xmlns:a16="http://schemas.microsoft.com/office/drawing/2014/main" id="{B5CBE6E3-0E18-8A57-578D-D314948AF14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6096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Picture Placeholder 15" descr="Place icon here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67500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333500"/>
            <a:ext cx="4951413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8" name="Straight Connector 27" descr="Vertical column divider">
            <a:extLst>
              <a:ext uri="{FF2B5EF4-FFF2-40B4-BE49-F238E27FC236}">
                <a16:creationId xmlns:a16="http://schemas.microsoft.com/office/drawing/2014/main" id="{52FF3B59-8BBA-8C99-9D4D-743723E434F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5" descr="Place icon here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63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1" y="1333500"/>
            <a:ext cx="4953000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7" name="Straight Connector 26" descr="Vertical column divider">
            <a:extLst>
              <a:ext uri="{FF2B5EF4-FFF2-40B4-BE49-F238E27FC236}">
                <a16:creationId xmlns:a16="http://schemas.microsoft.com/office/drawing/2014/main" id="{47200B05-7E36-4E03-3739-0BA9837646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Picture Placeholder 15" descr="Place icon here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8859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59501" y="1333500"/>
            <a:ext cx="4953000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3" name="Straight Connector 22" descr="Horizontal row divider">
            <a:extLst>
              <a:ext uri="{FF2B5EF4-FFF2-40B4-BE49-F238E27FC236}">
                <a16:creationId xmlns:a16="http://schemas.microsoft.com/office/drawing/2014/main" id="{252CDB94-BA57-B58F-95F0-D406FE34BB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177228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Picture Placeholder 15" descr="Place icon here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667500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7500" y="7429500"/>
            <a:ext cx="4951413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Picture Placeholder 15" descr="Place icon here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2763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763501" y="7429500"/>
            <a:ext cx="4951413" cy="379268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15" descr="Place icon here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8859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859501" y="7429500"/>
            <a:ext cx="4953000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A430D6-E733-E611-E1EF-A795D0B0362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A0B46D22-64E6-4222-F4E2-B807A7A1528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205542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39475" cy="3413126"/>
          </a:xfrm>
        </p:spPr>
        <p:txBody>
          <a:bodyPr rIns="457200"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F764036E-86AB-0893-B72B-200B84A6BC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467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6072" y="6665976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0" cy="590550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750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862675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5C7A71B-E65D-0A5D-606D-9F95D5AC6BE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51217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413126"/>
          </a:xfrm>
        </p:spPr>
        <p:txBody>
          <a:bodyPr rIns="0"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F764036E-86AB-0893-B72B-200B84A6BC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467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016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0" cy="590550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750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862675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8DA00F4-B5C9-B0CB-71F8-ED123EAA68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12167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2" y="3429000"/>
            <a:ext cx="4956175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Picture Placeholder 10" descr="Place imagery here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63500" y="569913"/>
            <a:ext cx="11049000" cy="12574587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77F84A-1700-568D-FF6C-C74EAF713E1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836230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" y="3429000"/>
            <a:ext cx="4956175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 descr="Place imagery here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0"/>
            <a:ext cx="18291175" cy="13716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3555959" y="12896848"/>
            <a:ext cx="256541" cy="254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154425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2" y="3429000"/>
            <a:ext cx="4956175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67500" y="565151"/>
            <a:ext cx="17151350" cy="1257934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C6A11-84D9-C1BA-F3C9-2E9D1A288B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768506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24387174" cy="1371599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9F466-AC9D-B311-5655-93E326ED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3555959" y="12896848"/>
            <a:ext cx="256541" cy="254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270910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68325" y="569913"/>
            <a:ext cx="23244175" cy="12580936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7694905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7" descr="Place bio portrait here">
            <a:extLst>
              <a:ext uri="{FF2B5EF4-FFF2-40B4-BE49-F238E27FC236}">
                <a16:creationId xmlns:a16="http://schemas.microsoft.com/office/drawing/2014/main" id="{E889D859-F4A1-3E97-F05E-8D134A25B9F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76072" y="2667000"/>
            <a:ext cx="2473325" cy="2476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29000" y="2667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Picture Placeholder 7" descr="Place bio portrait here">
            <a:extLst>
              <a:ext uri="{FF2B5EF4-FFF2-40B4-BE49-F238E27FC236}">
                <a16:creationId xmlns:a16="http://schemas.microsoft.com/office/drawing/2014/main" id="{AB8510EE-4140-AEDB-B7AB-EF1D4B72D2A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76072" y="61214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29000" y="61214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7" descr="Place bio portrait here">
            <a:extLst>
              <a:ext uri="{FF2B5EF4-FFF2-40B4-BE49-F238E27FC236}">
                <a16:creationId xmlns:a16="http://schemas.microsoft.com/office/drawing/2014/main" id="{3F048335-9A0B-2C1F-47A6-67051F20075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6072" y="95250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0" y="9525001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7" descr="Place bio portrait here">
            <a:extLst>
              <a:ext uri="{FF2B5EF4-FFF2-40B4-BE49-F238E27FC236}">
                <a16:creationId xmlns:a16="http://schemas.microsoft.com/office/drawing/2014/main" id="{F94AC7E0-2DC4-5DEB-8E1E-2F27996F98E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2757150" y="26670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617825" y="2667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7" descr="Place bio portrait here">
            <a:extLst>
              <a:ext uri="{FF2B5EF4-FFF2-40B4-BE49-F238E27FC236}">
                <a16:creationId xmlns:a16="http://schemas.microsoft.com/office/drawing/2014/main" id="{A33F8C74-1D30-FEA9-4F3C-636531C8614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2757150" y="61214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617825" y="61214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7" descr="Place bio portrait here">
            <a:extLst>
              <a:ext uri="{FF2B5EF4-FFF2-40B4-BE49-F238E27FC236}">
                <a16:creationId xmlns:a16="http://schemas.microsoft.com/office/drawing/2014/main" id="{2E690121-61A1-708E-E5B8-5B65A668E62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2757150" y="95250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5617825" y="9525001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D83A84-CCD3-C297-7314-225B96D47D6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4870601-E9CA-9D0E-804F-2A7353CE534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719277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4573587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667500" y="569913"/>
            <a:ext cx="17145000" cy="11431587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8A8EE3-1224-3A4B-8A9E-611D8DCF629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989FA07-F7B7-BE4B-581F-7BE47BBA605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29029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72" y="384048"/>
            <a:ext cx="4956175" cy="2859087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59500" y="569913"/>
            <a:ext cx="4953000" cy="11431587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0270476-9FE1-F85E-6F9B-322B184D8FC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187956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704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AFC9C6E-79FD-9BB8-F74D-EAA013319C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05039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72" y="384048"/>
            <a:ext cx="4956175" cy="2859087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63500" y="569913"/>
            <a:ext cx="4953000" cy="11431587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59500" y="569913"/>
            <a:ext cx="4953000" cy="11431587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81024" y="1280477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CAD686F0-BF95-1E62-61EC-96790733887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6161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50000"/>
          </a:blip>
          <a:stretch>
            <a:fillRect/>
          </a:stretch>
        </p:blipFill>
        <p:spPr>
          <a:xfrm>
            <a:off x="10465371" y="6168460"/>
            <a:ext cx="3456432" cy="137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384914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28482123" y="15748382"/>
            <a:ext cx="403507" cy="242695"/>
          </a:xfrm>
        </p:spPr>
        <p:txBody>
          <a:bodyPr lIns="0" tIns="0" rIns="0" bIns="0"/>
          <a:lstStyle>
            <a:lvl1pPr>
              <a:defRPr sz="1577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35543">
              <a:spcBef>
                <a:spcPts val="158"/>
              </a:spcBef>
            </a:pPr>
            <a:fld id="{81D60167-4931-47E6-BA6A-407CBD079E47}" type="slidenum">
              <a:rPr lang="en-US" spc="73" smtClean="0"/>
              <a:pPr marL="135543">
                <a:spcBef>
                  <a:spcPts val="158"/>
                </a:spcBef>
              </a:pPr>
              <a:t>‹#›</a:t>
            </a:fld>
            <a:endParaRPr lang="en-US" spc="73" dirty="0"/>
          </a:p>
        </p:txBody>
      </p:sp>
    </p:spTree>
    <p:extLst>
      <p:ext uri="{BB962C8B-B14F-4D97-AF65-F5344CB8AC3E}">
        <p14:creationId xmlns:p14="http://schemas.microsoft.com/office/powerpoint/2010/main" val="2831862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41592" y="12939014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576072" y="576072"/>
            <a:ext cx="22590125" cy="2651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574675" y="3327399"/>
            <a:ext cx="22590125" cy="8669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/>
              <a:t>Qiskit Fall Fest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0312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4" r:id="rId1"/>
    <p:sldLayoutId id="2147483904" r:id="rId2"/>
    <p:sldLayoutId id="2147483905" r:id="rId3"/>
    <p:sldLayoutId id="2147483901" r:id="rId4"/>
    <p:sldLayoutId id="2147483692" r:id="rId5"/>
    <p:sldLayoutId id="2147483906" r:id="rId6"/>
    <p:sldLayoutId id="2147483907" r:id="rId7"/>
    <p:sldLayoutId id="2147483910" r:id="rId8"/>
    <p:sldLayoutId id="2147483908" r:id="rId9"/>
    <p:sldLayoutId id="2147483909" r:id="rId10"/>
    <p:sldLayoutId id="2147483912" r:id="rId11"/>
    <p:sldLayoutId id="2147483914" r:id="rId12"/>
    <p:sldLayoutId id="2147483915" r:id="rId13"/>
    <p:sldLayoutId id="2147483913" r:id="rId14"/>
    <p:sldLayoutId id="2147483917" r:id="rId15"/>
    <p:sldLayoutId id="2147483942" r:id="rId16"/>
    <p:sldLayoutId id="2147483919" r:id="rId17"/>
    <p:sldLayoutId id="2147483929" r:id="rId18"/>
    <p:sldLayoutId id="2147483920" r:id="rId19"/>
    <p:sldLayoutId id="2147483930" r:id="rId20"/>
    <p:sldLayoutId id="2147483928" r:id="rId21"/>
    <p:sldLayoutId id="2147483948" r:id="rId22"/>
    <p:sldLayoutId id="2147483927" r:id="rId23"/>
    <p:sldLayoutId id="2147483950" r:id="rId24"/>
    <p:sldLayoutId id="2147483921" r:id="rId25"/>
    <p:sldLayoutId id="2147483916" r:id="rId26"/>
    <p:sldLayoutId id="2147483922" r:id="rId27"/>
    <p:sldLayoutId id="2147483953" r:id="rId28"/>
    <p:sldLayoutId id="2147483956" r:id="rId29"/>
    <p:sldLayoutId id="2147483923" r:id="rId30"/>
    <p:sldLayoutId id="2147483924" r:id="rId31"/>
    <p:sldLayoutId id="2147483926" r:id="rId32"/>
    <p:sldLayoutId id="2147483925" r:id="rId33"/>
    <p:sldLayoutId id="2147483959" r:id="rId34"/>
    <p:sldLayoutId id="2147483937" r:id="rId35"/>
    <p:sldLayoutId id="2147483932" r:id="rId36"/>
    <p:sldLayoutId id="2147483934" r:id="rId37"/>
    <p:sldLayoutId id="2147483935" r:id="rId38"/>
    <p:sldLayoutId id="2147483936" r:id="rId39"/>
    <p:sldLayoutId id="2147483938" r:id="rId40"/>
    <p:sldLayoutId id="2147483939" r:id="rId41"/>
    <p:sldLayoutId id="2147483940" r:id="rId42"/>
    <p:sldLayoutId id="2147483943" r:id="rId43"/>
    <p:sldLayoutId id="2147483960" r:id="rId44"/>
    <p:sldLayoutId id="2147483941" r:id="rId45"/>
    <p:sldLayoutId id="2147483963" r:id="rId46"/>
  </p:sldLayoutIdLst>
  <p:transition spd="med"/>
  <p:hf hdr="0" dt="0"/>
  <p:txStyles>
    <p:titleStyle>
      <a:lvl1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IBM Plex Sans Light"/>
        </a:defRPr>
      </a:lvl1pPr>
      <a:lvl2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362568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725139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108770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145027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1pPr>
      <a:lvl2pPr marL="329184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2pPr>
      <a:lvl3pPr marL="658368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3pPr>
      <a:lvl4pPr marL="987552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4pPr>
      <a:lvl5pPr marL="1143000" marR="0" indent="-457200" algn="l" defTabSz="2438400" rtl="0" eaLnBrk="1" latinLnBrk="0" hangingPunct="1">
        <a:lnSpc>
          <a:spcPct val="110000"/>
        </a:lnSpc>
        <a:spcBef>
          <a:spcPts val="29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184306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2205631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256820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2930769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34299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685982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1028974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1371965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1714956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2057948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240094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274393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0F62FE"/>
          </p15:clr>
        </p15:guide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7" orient="horz" pos="2160">
          <p15:clr>
            <a:srgbClr val="0F62FE"/>
          </p15:clr>
        </p15:guide>
        <p15:guide id="19" orient="horz" pos="3240">
          <p15:clr>
            <a:srgbClr val="EE5396"/>
          </p15:clr>
        </p15:guide>
        <p15:guide id="20" orient="horz" pos="1080" userDrawn="1">
          <p15:clr>
            <a:srgbClr val="EE5396"/>
          </p15:clr>
        </p15:guide>
        <p15:guide id="21" orient="horz" pos="364">
          <p15:clr>
            <a:srgbClr val="EE5396"/>
          </p15:clr>
        </p15:guide>
        <p15:guide id="22" orient="horz" pos="5400">
          <p15:clr>
            <a:srgbClr val="EE5396"/>
          </p15:clr>
        </p15:guide>
        <p15:guide id="24" orient="horz" pos="7557">
          <p15:clr>
            <a:srgbClr val="EE5396"/>
          </p15:clr>
        </p15:guide>
        <p15:guide id="25" orient="horz" pos="8273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28" orient="horz" pos="6480">
          <p15:clr>
            <a:srgbClr val="0F62FE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34548056" y="19131093"/>
            <a:ext cx="489374" cy="262914"/>
          </a:xfrm>
          <a:prstGeom prst="rect">
            <a:avLst/>
          </a:prstGeom>
        </p:spPr>
        <p:txBody>
          <a:bodyPr vert="horz" wrap="square" lIns="0" tIns="20023" rIns="0" bIns="0" rtlCol="0" anchor="b" anchorCtr="0">
            <a:spAutoFit/>
          </a:bodyPr>
          <a:lstStyle/>
          <a:p>
            <a:pPr marL="135543">
              <a:spcBef>
                <a:spcPts val="158"/>
              </a:spcBef>
            </a:pPr>
            <a:fld id="{81D60167-4931-47E6-BA6A-407CBD079E47}" type="slidenum">
              <a:rPr spc="73" dirty="0"/>
              <a:pPr marL="135543">
                <a:spcBef>
                  <a:spcPts val="158"/>
                </a:spcBef>
              </a:pPr>
              <a:t>1</a:t>
            </a:fld>
            <a:endParaRPr spc="73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0D92EB4-C8E6-EF4B-0DEE-8009E8BCB4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14038" y="577850"/>
            <a:ext cx="11413182" cy="12556259"/>
          </a:xfrm>
          <a:prstGeom prst="rect">
            <a:avLst/>
          </a:prstGeom>
        </p:spPr>
      </p:pic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DAB9F10-ED24-6167-D7C1-9A9BF05272F4}"/>
              </a:ext>
            </a:extLst>
          </p:cNvPr>
          <p:cNvSpPr txBox="1">
            <a:spLocks/>
          </p:cNvSpPr>
          <p:nvPr/>
        </p:nvSpPr>
        <p:spPr>
          <a:xfrm>
            <a:off x="576072" y="576072"/>
            <a:ext cx="10099675" cy="571500"/>
          </a:xfrm>
          <a:prstGeom prst="rect">
            <a:avLst/>
          </a:prstGeom>
        </p:spPr>
        <p:txBody>
          <a:bodyPr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329184" marR="0" indent="-329184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658368" marR="0" indent="-329184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987552" marR="0" indent="-329184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1143000" marR="0" indent="-457200" algn="l" defTabSz="2438400" rtl="0" eaLnBrk="1" latinLnBrk="0" hangingPunct="1">
              <a:lnSpc>
                <a:spcPct val="11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kern="0">
                <a:solidFill>
                  <a:srgbClr val="697077"/>
                </a:solidFill>
                <a:latin typeface="IBM Plex Mono" panose="020B0509050203000203" pitchFamily="49" charset="77"/>
              </a:rPr>
              <a:t>Qiskit Fall Fest 2025</a:t>
            </a:r>
            <a:endParaRPr lang="en-US" kern="0" dirty="0">
              <a:solidFill>
                <a:srgbClr val="697077"/>
              </a:solidFill>
              <a:latin typeface="IBM Plex Mono" panose="020B0509050203000203" pitchFamily="49" charset="77"/>
            </a:endParaRP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9DF6B376-5A6A-77FE-0DBA-9B017A519100}"/>
              </a:ext>
            </a:extLst>
          </p:cNvPr>
          <p:cNvSpPr txBox="1">
            <a:spLocks/>
          </p:cNvSpPr>
          <p:nvPr/>
        </p:nvSpPr>
        <p:spPr>
          <a:xfrm>
            <a:off x="576072" y="1527048"/>
            <a:ext cx="10099675" cy="9337675"/>
          </a:xfrm>
          <a:prstGeom prst="rect">
            <a:avLst/>
          </a:prstGeom>
        </p:spPr>
        <p:txBody>
          <a:bodyPr/>
          <a:lstStyle>
            <a:lvl1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chemeClr val="tx2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362568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725139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108770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145027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kern="0" dirty="0" err="1">
                <a:solidFill>
                  <a:schemeClr val="tx1"/>
                </a:solidFill>
              </a:rPr>
              <a:t>Qiskit</a:t>
            </a:r>
            <a:r>
              <a:rPr lang="en-US" kern="0" dirty="0">
                <a:solidFill>
                  <a:schemeClr val="tx1"/>
                </a:solidFill>
              </a:rPr>
              <a:t> Beginner Challenge, on Zoom</a:t>
            </a:r>
            <a:br>
              <a:rPr lang="en-US" kern="0" dirty="0">
                <a:solidFill>
                  <a:schemeClr val="tx1"/>
                </a:solidFill>
              </a:rPr>
            </a:br>
            <a:endParaRPr lang="en-US" kern="0" dirty="0">
              <a:solidFill>
                <a:schemeClr val="tx1"/>
              </a:solidFill>
            </a:endParaRP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8700AC34-6681-8050-8DA9-6C60A84EC019}"/>
              </a:ext>
            </a:extLst>
          </p:cNvPr>
          <p:cNvSpPr txBox="1">
            <a:spLocks/>
          </p:cNvSpPr>
          <p:nvPr/>
        </p:nvSpPr>
        <p:spPr>
          <a:xfrm>
            <a:off x="568325" y="6858000"/>
            <a:ext cx="9048286" cy="1222512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1829379" rtl="0" eaLnBrk="1" latinLnBrk="0" hangingPunct="1">
              <a:defRPr sz="1600" b="0" i="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91468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9379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406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8759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3447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813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2827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751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IBM Plex Sans Medm" panose="020B0503050203000203" pitchFamily="34" charset="0"/>
              </a:rPr>
              <a:t>Natalie</a:t>
            </a:r>
            <a:r>
              <a:rPr lang="en-US" sz="2800" dirty="0">
                <a:effectLst/>
                <a:latin typeface="IBM Plex Sans Medm" panose="020B0503050203000203" pitchFamily="34" charset="0"/>
              </a:rPr>
              <a:t> Hawkins</a:t>
            </a:r>
          </a:p>
          <a:p>
            <a:r>
              <a:rPr lang="en-US" sz="2800" dirty="0" err="1">
                <a:latin typeface="+mj-lt"/>
              </a:rPr>
              <a:t>Qiskit</a:t>
            </a:r>
            <a:r>
              <a:rPr lang="en-US" sz="2800" dirty="0">
                <a:latin typeface="+mj-lt"/>
              </a:rPr>
              <a:t> Advocate, Tier 1</a:t>
            </a:r>
            <a:br>
              <a:rPr lang="en-US" sz="2800" dirty="0">
                <a:effectLst/>
                <a:latin typeface="IBM Plex Sans Light" panose="020B0403050203000203" pitchFamily="34" charset="0"/>
              </a:rPr>
            </a:br>
            <a:r>
              <a:rPr lang="en-US" sz="2800" dirty="0">
                <a:latin typeface="+mj-lt"/>
              </a:rPr>
              <a:t>Seattle Quantum Computing Meetup, Founder</a:t>
            </a:r>
            <a:br>
              <a:rPr lang="en-US" sz="2800" dirty="0">
                <a:effectLst/>
                <a:latin typeface="+mj-lt"/>
              </a:rPr>
            </a:br>
            <a:endParaRPr lang="en-US" sz="2800" dirty="0">
              <a:effectLst/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55A89-31D3-C769-71AD-38E9ADC2B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5072888" cy="285908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588F6F-C66C-FFF6-F027-434CCBD37F2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40BF8BA-1291-FEB6-2E05-02368647FF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0959245" y="544513"/>
            <a:ext cx="2859087" cy="2859087"/>
          </a:xfrm>
          <a:prstGeom prst="rect">
            <a:avLst/>
          </a:prstGeom>
        </p:spPr>
      </p:pic>
      <p:sp>
        <p:nvSpPr>
          <p:cNvPr id="4" name="object 3">
            <a:extLst>
              <a:ext uri="{FF2B5EF4-FFF2-40B4-BE49-F238E27FC236}">
                <a16:creationId xmlns:a16="http://schemas.microsoft.com/office/drawing/2014/main" id="{BE081AA4-08F0-7E8B-DE5F-5CDBCF657F7A}"/>
              </a:ext>
            </a:extLst>
          </p:cNvPr>
          <p:cNvSpPr/>
          <p:nvPr/>
        </p:nvSpPr>
        <p:spPr>
          <a:xfrm>
            <a:off x="6102839" y="595334"/>
            <a:ext cx="0" cy="11390210"/>
          </a:xfrm>
          <a:custGeom>
            <a:avLst/>
            <a:gdLst/>
            <a:ahLst/>
            <a:cxnLst/>
            <a:rect l="l" t="t" r="r" b="b"/>
            <a:pathLst>
              <a:path h="9391650">
                <a:moveTo>
                  <a:pt x="0" y="0"/>
                </a:moveTo>
                <a:lnTo>
                  <a:pt x="0" y="9391127"/>
                </a:lnTo>
              </a:path>
            </a:pathLst>
          </a:custGeom>
          <a:ln w="10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6108A082-8140-6980-ED83-7DBED6EE5B0A}"/>
              </a:ext>
            </a:extLst>
          </p:cNvPr>
          <p:cNvSpPr txBox="1"/>
          <p:nvPr/>
        </p:nvSpPr>
        <p:spPr>
          <a:xfrm>
            <a:off x="6662072" y="542660"/>
            <a:ext cx="8699848" cy="5078928"/>
          </a:xfrm>
          <a:prstGeom prst="rect">
            <a:avLst/>
          </a:prstGeom>
        </p:spPr>
        <p:txBody>
          <a:bodyPr vert="horz" wrap="square" lIns="0" tIns="21564" rIns="0" bIns="0" rtlCol="0">
            <a:spAutoFit/>
          </a:bodyPr>
          <a:lstStyle/>
          <a:p>
            <a:pPr marL="15403">
              <a:spcBef>
                <a:spcPts val="170"/>
              </a:spcBef>
            </a:pPr>
            <a:r>
              <a:rPr lang="en-US" spc="97" dirty="0">
                <a:latin typeface="+mj-lt"/>
                <a:cs typeface="Calibri"/>
              </a:rPr>
              <a:t>Announcements + Explain Fall Fest</a:t>
            </a:r>
          </a:p>
          <a:p>
            <a:pPr marL="15403">
              <a:spcBef>
                <a:spcPts val="170"/>
              </a:spcBef>
            </a:pPr>
            <a:endParaRPr lang="en-US" spc="97" dirty="0">
              <a:latin typeface="+mj-lt"/>
              <a:cs typeface="Calibri"/>
            </a:endParaRPr>
          </a:p>
          <a:p>
            <a:pPr marL="15403">
              <a:spcBef>
                <a:spcPts val="170"/>
              </a:spcBef>
            </a:pPr>
            <a:r>
              <a:rPr lang="en-US" spc="97" dirty="0" err="1">
                <a:latin typeface="+mj-lt"/>
                <a:cs typeface="Calibri"/>
              </a:rPr>
              <a:t>Qiskit</a:t>
            </a:r>
            <a:r>
              <a:rPr lang="en-US" spc="97" dirty="0">
                <a:latin typeface="+mj-lt"/>
                <a:cs typeface="Calibri"/>
              </a:rPr>
              <a:t> Learning Resources</a:t>
            </a:r>
          </a:p>
          <a:p>
            <a:pPr marL="15403">
              <a:spcBef>
                <a:spcPts val="170"/>
              </a:spcBef>
            </a:pPr>
            <a:endParaRPr lang="en-US" spc="97" dirty="0">
              <a:latin typeface="+mj-lt"/>
              <a:cs typeface="Calibri"/>
            </a:endParaRPr>
          </a:p>
          <a:p>
            <a:pPr marL="15403">
              <a:spcBef>
                <a:spcPts val="170"/>
              </a:spcBef>
            </a:pPr>
            <a:r>
              <a:rPr lang="en-US" spc="97" dirty="0" err="1">
                <a:latin typeface="+mj-lt"/>
                <a:cs typeface="Calibri"/>
              </a:rPr>
              <a:t>Qiskit</a:t>
            </a:r>
            <a:r>
              <a:rPr lang="en-US" spc="97" dirty="0">
                <a:latin typeface="+mj-lt"/>
                <a:cs typeface="Calibri"/>
              </a:rPr>
              <a:t> Hello World Notebook</a:t>
            </a:r>
          </a:p>
          <a:p>
            <a:pPr marL="15403">
              <a:spcBef>
                <a:spcPts val="170"/>
              </a:spcBef>
            </a:pPr>
            <a:endParaRPr lang="en-US" spc="97" dirty="0">
              <a:latin typeface="+mj-lt"/>
              <a:cs typeface="Calibri"/>
            </a:endParaRPr>
          </a:p>
          <a:p>
            <a:pPr marL="15403">
              <a:spcBef>
                <a:spcPts val="170"/>
              </a:spcBef>
            </a:pPr>
            <a:r>
              <a:rPr lang="en-US" spc="97" dirty="0" err="1">
                <a:latin typeface="+mj-lt"/>
                <a:cs typeface="Calibri"/>
              </a:rPr>
              <a:t>Qiskit</a:t>
            </a:r>
            <a:r>
              <a:rPr lang="en-US" spc="97" dirty="0">
                <a:latin typeface="+mj-lt"/>
                <a:cs typeface="Calibri"/>
              </a:rPr>
              <a:t> Challenge Beginner Notebook</a:t>
            </a:r>
          </a:p>
          <a:p>
            <a:pPr marL="15403">
              <a:spcBef>
                <a:spcPts val="170"/>
              </a:spcBef>
            </a:pPr>
            <a:endParaRPr lang="en-US" spc="97" dirty="0">
              <a:latin typeface="+mj-lt"/>
              <a:cs typeface="Calibri"/>
            </a:endParaRPr>
          </a:p>
          <a:p>
            <a:pPr marL="15403">
              <a:spcBef>
                <a:spcPts val="170"/>
              </a:spcBef>
            </a:pPr>
            <a:endParaRPr sz="2729" dirty="0">
              <a:latin typeface="+mj-lt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8481365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7E72D-2E58-5FA9-35AF-EA3BF67E2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 + What is the Fall Fest?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F3C48B13-D468-45C9-5E8D-1CC3FCDBC286}"/>
              </a:ext>
            </a:extLst>
          </p:cNvPr>
          <p:cNvCxnSpPr/>
          <p:nvPr/>
        </p:nvCxnSpPr>
        <p:spPr bwMode="auto">
          <a:xfrm>
            <a:off x="56832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6A4A6-BFA6-4140-B1ED-1F00BB0D2D2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6400" dirty="0">
                <a:solidFill>
                  <a:srgbClr val="EE5396"/>
                </a:solidFill>
              </a:rPr>
              <a:t>1</a:t>
            </a:r>
          </a:p>
          <a:p>
            <a:br>
              <a:rPr lang="en-US" dirty="0"/>
            </a:br>
            <a:r>
              <a:rPr lang="en-US" b="1" dirty="0">
                <a:solidFill>
                  <a:schemeClr val="accent2"/>
                </a:solidFill>
              </a:rPr>
              <a:t>Submissions</a:t>
            </a:r>
            <a:r>
              <a:rPr lang="en-US" dirty="0"/>
              <a:t> </a:t>
            </a:r>
            <a:r>
              <a:rPr lang="en-US" b="1" dirty="0">
                <a:solidFill>
                  <a:schemeClr val="accent2"/>
                </a:solidFill>
              </a:rPr>
              <a:t>Deadline</a:t>
            </a:r>
            <a:r>
              <a:rPr lang="en-US" dirty="0"/>
              <a:t> for earning a Winning Certificate is </a:t>
            </a:r>
            <a:r>
              <a:rPr lang="en-US" b="1" dirty="0">
                <a:solidFill>
                  <a:schemeClr val="accent2"/>
                </a:solidFill>
              </a:rPr>
              <a:t>Extended </a:t>
            </a:r>
            <a:r>
              <a:rPr lang="en-US" dirty="0"/>
              <a:t>to</a:t>
            </a:r>
            <a:r>
              <a:rPr lang="en-US" b="1" dirty="0">
                <a:solidFill>
                  <a:schemeClr val="accent2"/>
                </a:solidFill>
              </a:rPr>
              <a:t> Monday, Nov 24!!!</a:t>
            </a:r>
          </a:p>
          <a:p>
            <a:endParaRPr lang="en-US" b="1" dirty="0"/>
          </a:p>
          <a:p>
            <a:r>
              <a:rPr lang="en-US" dirty="0"/>
              <a:t>The </a:t>
            </a:r>
            <a:r>
              <a:rPr lang="en-US" b="1" dirty="0">
                <a:solidFill>
                  <a:schemeClr val="accent2"/>
                </a:solidFill>
              </a:rPr>
              <a:t>non-coding and Hackathon options can be starts on projects</a:t>
            </a:r>
            <a:r>
              <a:rPr lang="en-US" dirty="0"/>
              <a:t>; they don’t have to be fully worked out.</a:t>
            </a:r>
          </a:p>
        </p:txBody>
      </p: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6B527F30-F60A-AA2B-370A-41F9EF0116AE}"/>
              </a:ext>
            </a:extLst>
          </p:cNvPr>
          <p:cNvCxnSpPr>
            <a:cxnSpLocks/>
          </p:cNvCxnSpPr>
          <p:nvPr/>
        </p:nvCxnSpPr>
        <p:spPr bwMode="auto">
          <a:xfrm>
            <a:off x="6096000" y="6096000"/>
            <a:ext cx="0" cy="587044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3EDFC4-C9C9-2112-4D9D-362541F5526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591" y="6667501"/>
            <a:ext cx="5136327" cy="6245859"/>
          </a:xfrm>
        </p:spPr>
        <p:txBody>
          <a:bodyPr/>
          <a:lstStyle/>
          <a:p>
            <a:r>
              <a:rPr lang="en-US" sz="6400" dirty="0">
                <a:solidFill>
                  <a:srgbClr val="EE5396"/>
                </a:solidFill>
              </a:rPr>
              <a:t>2</a:t>
            </a:r>
          </a:p>
          <a:p>
            <a:br>
              <a:rPr lang="en-US" dirty="0"/>
            </a:br>
            <a:r>
              <a:rPr lang="en-US" b="1" dirty="0">
                <a:solidFill>
                  <a:schemeClr val="accent2"/>
                </a:solidFill>
              </a:rPr>
              <a:t>Project Idea: (1-2 </a:t>
            </a:r>
            <a:r>
              <a:rPr lang="en-US" b="1" dirty="0" err="1">
                <a:solidFill>
                  <a:schemeClr val="accent2"/>
                </a:solidFill>
              </a:rPr>
              <a:t>pgs</a:t>
            </a:r>
            <a:r>
              <a:rPr lang="en-US" b="1" dirty="0">
                <a:solidFill>
                  <a:schemeClr val="accent2"/>
                </a:solidFill>
              </a:rPr>
              <a:t> max total)</a:t>
            </a:r>
          </a:p>
          <a:p>
            <a:r>
              <a:rPr lang="en-US" dirty="0"/>
              <a:t>Short answers on questions: </a:t>
            </a:r>
          </a:p>
          <a:p>
            <a:pPr marL="457200" indent="-457200">
              <a:buFontTx/>
              <a:buChar char="-"/>
            </a:pPr>
            <a:r>
              <a:rPr lang="en-US" dirty="0"/>
              <a:t>How will QC affect our futures?  </a:t>
            </a:r>
          </a:p>
          <a:p>
            <a:pPr marL="457200" indent="-457200">
              <a:buFontTx/>
              <a:buChar char="-"/>
            </a:pPr>
            <a:r>
              <a:rPr lang="en-US" dirty="0"/>
              <a:t>How will QC and AI affect our futures? </a:t>
            </a:r>
          </a:p>
          <a:p>
            <a:pPr marL="457200" indent="-457200">
              <a:buFontTx/>
              <a:buChar char="-"/>
            </a:pPr>
            <a:r>
              <a:rPr lang="en-US" dirty="0"/>
              <a:t>What are the pro’s and con’s of each type of qubit?</a:t>
            </a:r>
          </a:p>
          <a:p>
            <a:pPr marL="457200" indent="-457200">
              <a:buFontTx/>
              <a:buChar char="-"/>
            </a:pPr>
            <a:r>
              <a:rPr lang="en-US" dirty="0"/>
              <a:t>How many qubits are required for Shor’s </a:t>
            </a:r>
            <a:r>
              <a:rPr lang="en-US" dirty="0" err="1"/>
              <a:t>alg</a:t>
            </a:r>
            <a:r>
              <a:rPr lang="en-US" dirty="0"/>
              <a:t>? </a:t>
            </a:r>
          </a:p>
        </p:txBody>
      </p:sp>
      <p:cxnSp>
        <p:nvCxnSpPr>
          <p:cNvPr id="12" name="Straight Connector 11" descr="Vertical column divider">
            <a:extLst>
              <a:ext uri="{FF2B5EF4-FFF2-40B4-BE49-F238E27FC236}">
                <a16:creationId xmlns:a16="http://schemas.microsoft.com/office/drawing/2014/main" id="{79B6307B-3FFE-4197-344B-4318A0921143}"/>
              </a:ext>
            </a:extLst>
          </p:cNvPr>
          <p:cNvCxnSpPr>
            <a:cxnSpLocks/>
          </p:cNvCxnSpPr>
          <p:nvPr/>
        </p:nvCxnSpPr>
        <p:spPr bwMode="auto">
          <a:xfrm>
            <a:off x="12188952" y="6099048"/>
            <a:ext cx="0" cy="589063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8D3721-3096-C555-ADE3-C6C024CF3F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6400" dirty="0">
                <a:solidFill>
                  <a:srgbClr val="EE5396"/>
                </a:solidFill>
              </a:rPr>
              <a:t>3</a:t>
            </a:r>
          </a:p>
          <a:p>
            <a:br>
              <a:rPr lang="en-US" dirty="0"/>
            </a:br>
            <a:r>
              <a:rPr lang="en-US" dirty="0"/>
              <a:t>Our </a:t>
            </a:r>
            <a:r>
              <a:rPr lang="en-US" b="1" dirty="0">
                <a:solidFill>
                  <a:schemeClr val="accent2"/>
                </a:solidFill>
              </a:rPr>
              <a:t>last in-person FF25 Meetup</a:t>
            </a:r>
            <a:r>
              <a:rPr lang="en-US" dirty="0"/>
              <a:t> will be next </a:t>
            </a:r>
            <a:r>
              <a:rPr lang="en-US" b="1" dirty="0">
                <a:solidFill>
                  <a:schemeClr val="accent2"/>
                </a:solidFill>
              </a:rPr>
              <a:t>Saturday, Nov 1, 2-4 pm</a:t>
            </a:r>
            <a:r>
              <a:rPr lang="en-US" dirty="0"/>
              <a:t>, at the Montlake Branch of the SPL.   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2"/>
                </a:solidFill>
              </a:rPr>
              <a:t>Topics TBD: </a:t>
            </a:r>
          </a:p>
          <a:p>
            <a:pPr marL="514350" indent="-514350">
              <a:buAutoNum type="arabicParenR"/>
            </a:pPr>
            <a:r>
              <a:rPr lang="en-US" dirty="0"/>
              <a:t>DiVincenzo Intermediate Notebook </a:t>
            </a:r>
          </a:p>
          <a:p>
            <a:pPr marL="514350" indent="-514350">
              <a:buAutoNum type="arabicParenR"/>
            </a:pPr>
            <a:r>
              <a:rPr lang="en-US" dirty="0"/>
              <a:t>Working in QC, Getting a job, Where are the jobs?</a:t>
            </a:r>
          </a:p>
          <a:p>
            <a:endParaRPr lang="en-US" dirty="0"/>
          </a:p>
        </p:txBody>
      </p: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79653C59-D4EB-061B-BEE9-54F43A1A5BD7}"/>
              </a:ext>
            </a:extLst>
          </p:cNvPr>
          <p:cNvCxnSpPr>
            <a:cxnSpLocks/>
          </p:cNvCxnSpPr>
          <p:nvPr/>
        </p:nvCxnSpPr>
        <p:spPr bwMode="auto">
          <a:xfrm>
            <a:off x="18288000" y="6096000"/>
            <a:ext cx="0" cy="5868329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20DC560-FF7F-9500-14CC-65574A232BA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6400" dirty="0">
                <a:solidFill>
                  <a:srgbClr val="EE5396"/>
                </a:solidFill>
              </a:rPr>
              <a:t>4</a:t>
            </a:r>
          </a:p>
          <a:p>
            <a:br>
              <a:rPr lang="en-US" dirty="0"/>
            </a:br>
            <a:r>
              <a:rPr lang="en-US" b="1" dirty="0">
                <a:solidFill>
                  <a:schemeClr val="accent2"/>
                </a:solidFill>
              </a:rPr>
              <a:t>Upcoming Summit:</a:t>
            </a:r>
          </a:p>
          <a:p>
            <a:endParaRPr lang="en-US" b="1" dirty="0">
              <a:solidFill>
                <a:schemeClr val="accent2"/>
              </a:solidFill>
            </a:endParaRPr>
          </a:p>
          <a:p>
            <a:r>
              <a:rPr lang="en-US" dirty="0" err="1"/>
              <a:t>TechAlliance</a:t>
            </a:r>
            <a:r>
              <a:rPr lang="en-US" dirty="0"/>
              <a:t> Policy Matters Summit | The Quantum Frontier</a:t>
            </a:r>
          </a:p>
          <a:p>
            <a:endParaRPr lang="en-US" b="1" dirty="0">
              <a:solidFill>
                <a:schemeClr val="accent2"/>
              </a:solidFill>
            </a:endParaRPr>
          </a:p>
          <a:p>
            <a:r>
              <a:rPr lang="en-US" dirty="0"/>
              <a:t>https://luma.com/sxwd8icd 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F5069CF-12C8-5065-5D51-A2D4F896DB6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 dirty="0" err="1"/>
              <a:t>Qiskit</a:t>
            </a:r>
            <a:r>
              <a:rPr lang="en-US" dirty="0"/>
              <a:t> Fall Fest 2025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FA592C4-BA9E-5690-A307-8B62A68987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1912263" y="532124"/>
            <a:ext cx="1892300" cy="18923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353457-486B-91B4-5C47-B79F0F24E233}"/>
              </a:ext>
            </a:extLst>
          </p:cNvPr>
          <p:cNvSpPr txBox="1"/>
          <p:nvPr/>
        </p:nvSpPr>
        <p:spPr>
          <a:xfrm>
            <a:off x="576072" y="3570084"/>
            <a:ext cx="15992477" cy="6901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defTabSz="2438400">
              <a:spcBef>
                <a:spcPts val="2900"/>
              </a:spcBef>
              <a:buSzPct val="100000"/>
            </a:pP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https://github.com/SeattleQuantumComputingMeetup/qiskit_fall_fest_2025</a:t>
            </a:r>
          </a:p>
        </p:txBody>
      </p:sp>
    </p:spTree>
    <p:extLst>
      <p:ext uri="{BB962C8B-B14F-4D97-AF65-F5344CB8AC3E}">
        <p14:creationId xmlns:p14="http://schemas.microsoft.com/office/powerpoint/2010/main" val="252274674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63512-8902-EDB1-9837-FA806B6D1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DBE757-DDA3-546B-74F1-895C3E39F5A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Software Development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AFFED-BC27-9DCF-360B-A51AF4A4A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1527048"/>
            <a:ext cx="11044239" cy="2276856"/>
          </a:xfrm>
        </p:spPr>
        <p:txBody>
          <a:bodyPr/>
          <a:lstStyle/>
          <a:p>
            <a:r>
              <a:rPr lang="en-US" dirty="0" err="1"/>
              <a:t>Qiskit</a:t>
            </a:r>
            <a:r>
              <a:rPr lang="en-US" dirty="0"/>
              <a:t> Learning Resources</a:t>
            </a:r>
          </a:p>
        </p:txBody>
      </p: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FE33C31F-728C-6908-9DE1-D662E7F3405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/>
        </p:nvCxnSpPr>
        <p:spPr bwMode="auto">
          <a:xfrm>
            <a:off x="12192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BC9ABE-133A-647B-51C4-C4DF9134AEA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>
                <a:solidFill>
                  <a:srgbClr val="8A3FFC"/>
                </a:solidFill>
              </a:rPr>
              <a:t>IBM Quantum Platform</a:t>
            </a:r>
          </a:p>
          <a:p>
            <a:endParaRPr lang="en-US" dirty="0"/>
          </a:p>
          <a:p>
            <a:pPr marL="457200" indent="-457200">
              <a:buFontTx/>
              <a:buChar char="-"/>
            </a:pPr>
            <a:r>
              <a:rPr lang="en-US" dirty="0"/>
              <a:t>Learning: courses</a:t>
            </a:r>
          </a:p>
          <a:p>
            <a:pPr marL="457200" indent="-457200">
              <a:buFontTx/>
              <a:buChar char="-"/>
            </a:pPr>
            <a:r>
              <a:rPr lang="en-US" dirty="0"/>
              <a:t>Tutorials: </a:t>
            </a:r>
            <a:r>
              <a:rPr lang="en-US" dirty="0" err="1"/>
              <a:t>Qiskit</a:t>
            </a:r>
            <a:endParaRPr lang="en-US" dirty="0"/>
          </a:p>
          <a:p>
            <a:pPr marL="457200" indent="-457200">
              <a:buFontTx/>
              <a:buChar char="-"/>
            </a:pPr>
            <a:r>
              <a:rPr lang="en-US" dirty="0"/>
              <a:t>Guides: Documentation</a:t>
            </a:r>
          </a:p>
          <a:p>
            <a:pPr marL="457200" indent="-457200">
              <a:buFontTx/>
              <a:buChar char="-"/>
            </a:pPr>
            <a:r>
              <a:rPr lang="en-US" dirty="0"/>
              <a:t>API Reference: </a:t>
            </a:r>
            <a:r>
              <a:rPr lang="en-US" dirty="0" err="1"/>
              <a:t>Qiskit</a:t>
            </a:r>
            <a:endParaRPr lang="en-US" dirty="0"/>
          </a:p>
        </p:txBody>
      </p:sp>
      <p:cxnSp>
        <p:nvCxnSpPr>
          <p:cNvPr id="12" name="Straight Connector 11" descr="Vertical column divider">
            <a:extLst>
              <a:ext uri="{FF2B5EF4-FFF2-40B4-BE49-F238E27FC236}">
                <a16:creationId xmlns:a16="http://schemas.microsoft.com/office/drawing/2014/main" id="{E1CC6D1B-3AD2-B92D-3463-4AA9899EB12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EBC356-832E-794E-16C5-15B69897903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69913"/>
            <a:ext cx="5280660" cy="5145087"/>
          </a:xfrm>
        </p:spPr>
        <p:txBody>
          <a:bodyPr/>
          <a:lstStyle/>
          <a:p>
            <a:r>
              <a:rPr lang="en-US" dirty="0" err="1">
                <a:solidFill>
                  <a:srgbClr val="8A3FFC"/>
                </a:solidFill>
              </a:rPr>
              <a:t>Qiskit</a:t>
            </a:r>
            <a:r>
              <a:rPr lang="en-US" dirty="0">
                <a:solidFill>
                  <a:srgbClr val="8A3FFC"/>
                </a:solidFill>
              </a:rPr>
              <a:t> Channel on YouTube</a:t>
            </a:r>
          </a:p>
          <a:p>
            <a:endParaRPr lang="en-US" dirty="0"/>
          </a:p>
          <a:p>
            <a:r>
              <a:rPr lang="en-US" dirty="0"/>
              <a:t>https://www.youtube.com/qiskit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E5DE16D3-DDBB-1E69-277C-66DDD51651E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/>
        </p:nvCxnSpPr>
        <p:spPr bwMode="auto">
          <a:xfrm>
            <a:off x="12192000" y="6096000"/>
            <a:ext cx="1162202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7366112-504A-3B36-E429-989F3F1790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667499"/>
            <a:ext cx="4953000" cy="5981699"/>
          </a:xfrm>
        </p:spPr>
        <p:txBody>
          <a:bodyPr/>
          <a:lstStyle/>
          <a:p>
            <a:r>
              <a:rPr lang="en-US" dirty="0">
                <a:solidFill>
                  <a:srgbClr val="8A3FFC"/>
                </a:solidFill>
              </a:rPr>
              <a:t>IBM Quantum Challenges and </a:t>
            </a:r>
            <a:r>
              <a:rPr lang="en-US" dirty="0" err="1">
                <a:solidFill>
                  <a:srgbClr val="8A3FFC"/>
                </a:solidFill>
              </a:rPr>
              <a:t>Qiskit</a:t>
            </a:r>
            <a:r>
              <a:rPr lang="en-US" dirty="0">
                <a:solidFill>
                  <a:srgbClr val="8A3FFC"/>
                </a:solidFill>
              </a:rPr>
              <a:t> Developer Certification</a:t>
            </a:r>
          </a:p>
          <a:p>
            <a:endParaRPr lang="en-US" dirty="0"/>
          </a:p>
          <a:p>
            <a:pPr marL="457200" indent="-457200">
              <a:buFontTx/>
              <a:buChar char="-"/>
            </a:pPr>
            <a:r>
              <a:rPr lang="en-US" dirty="0"/>
              <a:t>QGSS: </a:t>
            </a:r>
            <a:r>
              <a:rPr lang="en-US" dirty="0" err="1"/>
              <a:t>Qiskit</a:t>
            </a:r>
            <a:r>
              <a:rPr lang="en-US" dirty="0"/>
              <a:t> Global Summer School</a:t>
            </a:r>
          </a:p>
          <a:p>
            <a:pPr marL="457200" indent="-457200">
              <a:buFontTx/>
              <a:buChar char="-"/>
            </a:pPr>
            <a:r>
              <a:rPr lang="en-US" dirty="0"/>
              <a:t>Maybe a Spring Challenge?</a:t>
            </a:r>
          </a:p>
          <a:p>
            <a:pPr marL="457200" indent="-457200">
              <a:buFontTx/>
              <a:buChar char="-"/>
            </a:pPr>
            <a:r>
              <a:rPr lang="en-US" dirty="0"/>
              <a:t>Study for the </a:t>
            </a:r>
            <a:r>
              <a:rPr lang="en-US" dirty="0" err="1"/>
              <a:t>Qiskit</a:t>
            </a:r>
            <a:r>
              <a:rPr lang="en-US" dirty="0"/>
              <a:t> Developer Certification exam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24E3AEA-B670-8029-ECBA-2CBF536A2EC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667499"/>
            <a:ext cx="5280660" cy="6478587"/>
          </a:xfrm>
        </p:spPr>
        <p:txBody>
          <a:bodyPr/>
          <a:lstStyle/>
          <a:p>
            <a:r>
              <a:rPr lang="en-US" dirty="0" err="1">
                <a:solidFill>
                  <a:srgbClr val="8A3FFC"/>
                </a:solidFill>
              </a:rPr>
              <a:t>Qiskit</a:t>
            </a:r>
            <a:r>
              <a:rPr lang="en-US" dirty="0">
                <a:solidFill>
                  <a:srgbClr val="8A3FFC"/>
                </a:solidFill>
              </a:rPr>
              <a:t> Community</a:t>
            </a:r>
          </a:p>
          <a:p>
            <a:r>
              <a:rPr lang="en-US" dirty="0">
                <a:solidFill>
                  <a:srgbClr val="8A3FFC"/>
                </a:solidFill>
              </a:rPr>
              <a:t> </a:t>
            </a:r>
            <a:endParaRPr lang="en-US" dirty="0"/>
          </a:p>
          <a:p>
            <a:pPr marL="457200" indent="-457200">
              <a:buFontTx/>
              <a:buChar char="-"/>
            </a:pPr>
            <a:r>
              <a:rPr lang="en-US" dirty="0"/>
              <a:t>Slack Channel</a:t>
            </a:r>
          </a:p>
          <a:p>
            <a:pPr marL="457200" indent="-457200">
              <a:buFontTx/>
              <a:buChar char="-"/>
            </a:pPr>
            <a:r>
              <a:rPr lang="en-US" dirty="0"/>
              <a:t>Unitary Foundation’s </a:t>
            </a:r>
            <a:r>
              <a:rPr lang="en-US" dirty="0" err="1"/>
              <a:t>unitaryHACK</a:t>
            </a:r>
            <a:endParaRPr lang="en-US" dirty="0"/>
          </a:p>
          <a:p>
            <a:pPr marL="457200" indent="-457200">
              <a:buFontTx/>
              <a:buChar char="-"/>
            </a:pPr>
            <a:r>
              <a:rPr lang="en-US" dirty="0"/>
              <a:t>Other Hackathons and Industry Challenges</a:t>
            </a:r>
          </a:p>
          <a:p>
            <a:pPr marL="457200" indent="-457200">
              <a:buFontTx/>
              <a:buChar char="-"/>
            </a:pPr>
            <a:r>
              <a:rPr lang="en-US" dirty="0"/>
              <a:t>Books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35906C-387D-F165-2019-A94E1430A88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7C35EE-A3E3-9BEC-0DF8-372A4028FC8D}"/>
              </a:ext>
            </a:extLst>
          </p:cNvPr>
          <p:cNvSpPr txBox="1"/>
          <p:nvPr/>
        </p:nvSpPr>
        <p:spPr>
          <a:xfrm>
            <a:off x="26273760" y="12649200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05123FE-8EA4-C486-9FA3-E659225D86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74675" y="10109200"/>
            <a:ext cx="1892300" cy="189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14763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DF217-EEA3-B46D-2FC0-9C6BFC0AB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0D8328E-D622-B0C8-12F1-3EA4F1A1C2C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Fall Fest 2025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8C12F6-C94A-BCD3-8E77-60870E572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1527048"/>
            <a:ext cx="11044239" cy="1295665"/>
          </a:xfrm>
        </p:spPr>
        <p:txBody>
          <a:bodyPr/>
          <a:lstStyle/>
          <a:p>
            <a:r>
              <a:rPr lang="en-US" dirty="0" err="1"/>
              <a:t>Qiskit</a:t>
            </a:r>
            <a:r>
              <a:rPr lang="en-US" dirty="0"/>
              <a:t> </a:t>
            </a:r>
            <a:r>
              <a:rPr lang="en-US" dirty="0" err="1"/>
              <a:t>Jupyter</a:t>
            </a:r>
            <a:r>
              <a:rPr lang="en-US" dirty="0"/>
              <a:t> Notebooks</a:t>
            </a:r>
          </a:p>
        </p:txBody>
      </p: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AB8DD3C8-17B3-CE44-23BF-C22CB5EA3D1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/>
        </p:nvCxnSpPr>
        <p:spPr bwMode="auto">
          <a:xfrm>
            <a:off x="12192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2AD90F-07EF-E053-DBFD-53652FF562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>
                <a:solidFill>
                  <a:srgbClr val="8A3FFC"/>
                </a:solidFill>
              </a:rPr>
              <a:t>Hello World </a:t>
            </a:r>
          </a:p>
          <a:p>
            <a:endParaRPr lang="en-US" dirty="0"/>
          </a:p>
          <a:p>
            <a:r>
              <a:rPr lang="en-US" dirty="0"/>
              <a:t>https://quantum.cloud.ibm.com/docs/en/tutorials/hello-world</a:t>
            </a:r>
          </a:p>
        </p:txBody>
      </p:sp>
      <p:cxnSp>
        <p:nvCxnSpPr>
          <p:cNvPr id="12" name="Straight Connector 11" descr="Vertical column divider">
            <a:extLst>
              <a:ext uri="{FF2B5EF4-FFF2-40B4-BE49-F238E27FC236}">
                <a16:creationId xmlns:a16="http://schemas.microsoft.com/office/drawing/2014/main" id="{EDE636DD-B02A-EBDC-B767-C96189A04C3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060311-690E-C995-A07E-D14A22FC9A9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>
                <a:solidFill>
                  <a:srgbClr val="8A3FFC"/>
                </a:solidFill>
              </a:rPr>
              <a:t>Beginner Notebook</a:t>
            </a:r>
          </a:p>
          <a:p>
            <a:endParaRPr lang="en-US" dirty="0"/>
          </a:p>
          <a:p>
            <a:pPr marL="457200" indent="-457200">
              <a:buFontTx/>
              <a:buChar char="-"/>
            </a:pPr>
            <a:r>
              <a:rPr lang="en-US" dirty="0" err="1"/>
              <a:t>Qiskit</a:t>
            </a:r>
            <a:r>
              <a:rPr lang="en-US" dirty="0"/>
              <a:t> Fundamentals</a:t>
            </a:r>
          </a:p>
          <a:p>
            <a:pPr marL="457200" indent="-457200">
              <a:buFontTx/>
              <a:buChar char="-"/>
            </a:pPr>
            <a:endParaRPr lang="en-US" dirty="0"/>
          </a:p>
          <a:p>
            <a:endParaRPr lang="en-US" dirty="0"/>
          </a:p>
          <a:p>
            <a:r>
              <a:rPr lang="en-US" dirty="0"/>
              <a:t>https://github.com/SeattleQuantumComputingMeetup/qiskit_fall_fest_2025/tree/main/coding_challenges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398D6FF8-21BF-42FE-7C25-409ED86199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/>
        </p:nvCxnSpPr>
        <p:spPr bwMode="auto">
          <a:xfrm>
            <a:off x="12192000" y="6096000"/>
            <a:ext cx="1162202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8BB273-A3CC-CF45-A64D-DC3F3C9E1C9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667499"/>
            <a:ext cx="4953000" cy="5981699"/>
          </a:xfrm>
        </p:spPr>
        <p:txBody>
          <a:bodyPr/>
          <a:lstStyle/>
          <a:p>
            <a:r>
              <a:rPr lang="en-US" dirty="0">
                <a:solidFill>
                  <a:srgbClr val="8A3FFC"/>
                </a:solidFill>
              </a:rPr>
              <a:t>Intermediate Notebook</a:t>
            </a:r>
          </a:p>
          <a:p>
            <a:endParaRPr lang="en-US" dirty="0">
              <a:solidFill>
                <a:srgbClr val="8A3FFC"/>
              </a:solidFill>
            </a:endParaRPr>
          </a:p>
          <a:p>
            <a:r>
              <a:rPr lang="en-US" dirty="0">
                <a:solidFill>
                  <a:srgbClr val="8A3FFC"/>
                </a:solidFill>
              </a:rPr>
              <a:t>- </a:t>
            </a:r>
            <a:r>
              <a:rPr lang="en-US" dirty="0"/>
              <a:t>DiVincenzo Criteria</a:t>
            </a:r>
          </a:p>
          <a:p>
            <a:pPr marL="457200" indent="-457200">
              <a:buFontTx/>
              <a:buChar char="-"/>
            </a:pPr>
            <a:endParaRPr lang="en-US" dirty="0"/>
          </a:p>
          <a:p>
            <a:endParaRPr lang="en-US" dirty="0"/>
          </a:p>
          <a:p>
            <a:r>
              <a:rPr lang="en-US" dirty="0"/>
              <a:t>https://github.com/SeattleQuantumComputingMeetup/qiskit_fall_fest_2025/tree/main/coding_challenges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885A12A-5449-F1C5-1BEB-90273FECBAA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667500"/>
            <a:ext cx="5280660" cy="5060674"/>
          </a:xfrm>
        </p:spPr>
        <p:txBody>
          <a:bodyPr/>
          <a:lstStyle/>
          <a:p>
            <a:r>
              <a:rPr lang="en-US" dirty="0">
                <a:solidFill>
                  <a:srgbClr val="8A3FFC"/>
                </a:solidFill>
              </a:rPr>
              <a:t>Hackathon Prompts</a:t>
            </a:r>
          </a:p>
          <a:p>
            <a:r>
              <a:rPr lang="en-US" dirty="0">
                <a:solidFill>
                  <a:srgbClr val="8A3FFC"/>
                </a:solidFill>
              </a:rPr>
              <a:t> </a:t>
            </a:r>
            <a:endParaRPr lang="en-US" dirty="0"/>
          </a:p>
          <a:p>
            <a:pPr marL="457200" indent="-457200">
              <a:buFontTx/>
              <a:buChar char="-"/>
            </a:pPr>
            <a:r>
              <a:rPr lang="en-US" dirty="0"/>
              <a:t>No Notebooks associated with these</a:t>
            </a:r>
          </a:p>
          <a:p>
            <a:pPr marL="457200" indent="-457200">
              <a:buFontTx/>
              <a:buChar char="-"/>
            </a:pPr>
            <a:endParaRPr lang="en-US" dirty="0"/>
          </a:p>
          <a:p>
            <a:r>
              <a:rPr lang="en-US" dirty="0"/>
              <a:t>https://github.com/SeattleQuantumComputingMeetup/qiskit_fall_fest_2025/tree/main/hackathon_prompts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2B8625-E342-48D1-A779-B41200D3520D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75398C-3116-994D-35DB-54535675E390}"/>
              </a:ext>
            </a:extLst>
          </p:cNvPr>
          <p:cNvSpPr txBox="1"/>
          <p:nvPr/>
        </p:nvSpPr>
        <p:spPr>
          <a:xfrm>
            <a:off x="26273760" y="12649200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9607255-FFE8-E46B-BF8F-2967DD3B24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74675" y="10109200"/>
            <a:ext cx="1892300" cy="189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86146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89C1B-A06B-1F00-3D17-91E94FBC2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34FA5-DEA3-A27F-BD8A-ACE048F90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Qiskit</a:t>
            </a:r>
            <a:r>
              <a:rPr lang="en-US" dirty="0"/>
              <a:t> Beginner Challenge Notebook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D7CDBEF3-04FB-BCF3-0E53-C8A99E491DFB}"/>
              </a:ext>
            </a:extLst>
          </p:cNvPr>
          <p:cNvCxnSpPr/>
          <p:nvPr/>
        </p:nvCxnSpPr>
        <p:spPr bwMode="auto">
          <a:xfrm>
            <a:off x="56832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28BC75-033B-89F5-AA6E-B3F570CDA8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6400" dirty="0">
                <a:solidFill>
                  <a:srgbClr val="EE5396"/>
                </a:solidFill>
              </a:rPr>
              <a:t>1</a:t>
            </a:r>
          </a:p>
          <a:p>
            <a:br>
              <a:rPr lang="en-US" dirty="0"/>
            </a:br>
            <a:r>
              <a:rPr lang="en-US" b="1" dirty="0">
                <a:solidFill>
                  <a:schemeClr val="accent2"/>
                </a:solidFill>
              </a:rPr>
              <a:t>Software Setup</a:t>
            </a:r>
            <a:endParaRPr lang="en-US" dirty="0"/>
          </a:p>
        </p:txBody>
      </p: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65A6F895-2EF2-FC36-F115-5A84470E6896}"/>
              </a:ext>
            </a:extLst>
          </p:cNvPr>
          <p:cNvCxnSpPr>
            <a:cxnSpLocks/>
          </p:cNvCxnSpPr>
          <p:nvPr/>
        </p:nvCxnSpPr>
        <p:spPr bwMode="auto">
          <a:xfrm>
            <a:off x="6096000" y="6096000"/>
            <a:ext cx="0" cy="587044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EBCCBC-5AA3-6F21-AE69-B5F5FBC7C1C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591" y="6667501"/>
            <a:ext cx="5136327" cy="5344917"/>
          </a:xfrm>
        </p:spPr>
        <p:txBody>
          <a:bodyPr/>
          <a:lstStyle/>
          <a:p>
            <a:r>
              <a:rPr lang="en-US" sz="6400" dirty="0">
                <a:solidFill>
                  <a:srgbClr val="EE5396"/>
                </a:solidFill>
              </a:rPr>
              <a:t>2</a:t>
            </a:r>
          </a:p>
          <a:p>
            <a:br>
              <a:rPr lang="en-US" dirty="0"/>
            </a:br>
            <a:r>
              <a:rPr lang="en-US" b="1" dirty="0">
                <a:solidFill>
                  <a:schemeClr val="accent2"/>
                </a:solidFill>
              </a:rPr>
              <a:t>Circuits and Visualization</a:t>
            </a:r>
          </a:p>
          <a:p>
            <a:endParaRPr lang="en-US" b="1" dirty="0">
              <a:solidFill>
                <a:schemeClr val="accent2"/>
              </a:solidFill>
            </a:endParaRPr>
          </a:p>
        </p:txBody>
      </p:sp>
      <p:cxnSp>
        <p:nvCxnSpPr>
          <p:cNvPr id="12" name="Straight Connector 11" descr="Vertical column divider">
            <a:extLst>
              <a:ext uri="{FF2B5EF4-FFF2-40B4-BE49-F238E27FC236}">
                <a16:creationId xmlns:a16="http://schemas.microsoft.com/office/drawing/2014/main" id="{1AA3780C-8421-7CF4-1BAF-2F74DE5F4BB2}"/>
              </a:ext>
            </a:extLst>
          </p:cNvPr>
          <p:cNvCxnSpPr>
            <a:cxnSpLocks/>
          </p:cNvCxnSpPr>
          <p:nvPr/>
        </p:nvCxnSpPr>
        <p:spPr bwMode="auto">
          <a:xfrm>
            <a:off x="12188952" y="6099048"/>
            <a:ext cx="0" cy="589063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0EB181-557C-AA8A-1F5C-6B0E3DFE2E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6400" dirty="0">
                <a:solidFill>
                  <a:srgbClr val="EE5396"/>
                </a:solidFill>
              </a:rPr>
              <a:t>3</a:t>
            </a:r>
          </a:p>
          <a:p>
            <a:br>
              <a:rPr lang="en-US" dirty="0"/>
            </a:br>
            <a:r>
              <a:rPr lang="en-US" b="1" dirty="0">
                <a:solidFill>
                  <a:schemeClr val="accent2"/>
                </a:solidFill>
              </a:rPr>
              <a:t>Optimize, then Run on Simulator or Fake Backend</a:t>
            </a:r>
          </a:p>
          <a:p>
            <a:endParaRPr lang="en-US" dirty="0"/>
          </a:p>
        </p:txBody>
      </p: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B811A9F8-98D8-244E-8044-54CA415A7612}"/>
              </a:ext>
            </a:extLst>
          </p:cNvPr>
          <p:cNvCxnSpPr>
            <a:cxnSpLocks/>
          </p:cNvCxnSpPr>
          <p:nvPr/>
        </p:nvCxnSpPr>
        <p:spPr bwMode="auto">
          <a:xfrm>
            <a:off x="18288000" y="6096000"/>
            <a:ext cx="0" cy="5868329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3AB6179-C03A-F273-2E9A-0F74686864E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67501"/>
            <a:ext cx="4949825" cy="6515099"/>
          </a:xfrm>
        </p:spPr>
        <p:txBody>
          <a:bodyPr/>
          <a:lstStyle/>
          <a:p>
            <a:r>
              <a:rPr lang="en-US" sz="6400" dirty="0">
                <a:solidFill>
                  <a:srgbClr val="EE5396"/>
                </a:solidFill>
              </a:rPr>
              <a:t>4</a:t>
            </a:r>
          </a:p>
          <a:p>
            <a:br>
              <a:rPr lang="en-US" dirty="0"/>
            </a:br>
            <a:r>
              <a:rPr lang="en-US" b="1" dirty="0">
                <a:solidFill>
                  <a:schemeClr val="accent2"/>
                </a:solidFill>
              </a:rPr>
              <a:t>Run on Real Quantum HW</a:t>
            </a:r>
          </a:p>
          <a:p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7A6405F-56C6-9397-6B7A-D9F3F65647C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 dirty="0" err="1"/>
              <a:t>Qiskit</a:t>
            </a:r>
            <a:r>
              <a:rPr lang="en-US" dirty="0"/>
              <a:t> Fall Fest 2025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192D2B0-84C0-3AA9-DC11-BAEEE3185F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1912263" y="532124"/>
            <a:ext cx="1892300" cy="189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52195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3492A-6B8C-9950-1EA8-B60F62876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85CDFE3C-F11E-4F45-718B-36E101E39A4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34548056" y="19131093"/>
            <a:ext cx="489374" cy="262914"/>
          </a:xfrm>
          <a:prstGeom prst="rect">
            <a:avLst/>
          </a:prstGeom>
        </p:spPr>
        <p:txBody>
          <a:bodyPr vert="horz" wrap="square" lIns="0" tIns="20023" rIns="0" bIns="0" rtlCol="0" anchor="b" anchorCtr="0">
            <a:spAutoFit/>
          </a:bodyPr>
          <a:lstStyle/>
          <a:p>
            <a:pPr marL="135543">
              <a:spcBef>
                <a:spcPts val="158"/>
              </a:spcBef>
            </a:pPr>
            <a:fld id="{81D60167-4931-47E6-BA6A-407CBD079E47}" type="slidenum">
              <a:rPr spc="73" dirty="0"/>
              <a:pPr marL="135543">
                <a:spcBef>
                  <a:spcPts val="158"/>
                </a:spcBef>
              </a:pPr>
              <a:t>7</a:t>
            </a:fld>
            <a:endParaRPr spc="73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A7763F8-5543-2867-6BEE-AA99CC5F7E75}"/>
              </a:ext>
            </a:extLst>
          </p:cNvPr>
          <p:cNvSpPr txBox="1">
            <a:spLocks/>
          </p:cNvSpPr>
          <p:nvPr/>
        </p:nvSpPr>
        <p:spPr>
          <a:xfrm>
            <a:off x="576072" y="576072"/>
            <a:ext cx="10099675" cy="571500"/>
          </a:xfrm>
          <a:prstGeom prst="rect">
            <a:avLst/>
          </a:prstGeom>
        </p:spPr>
        <p:txBody>
          <a:bodyPr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329184" marR="0" indent="-329184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658368" marR="0" indent="-329184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987552" marR="0" indent="-329184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1143000" marR="0" indent="-457200" algn="l" defTabSz="2438400" rtl="0" eaLnBrk="1" latinLnBrk="0" hangingPunct="1">
              <a:lnSpc>
                <a:spcPct val="11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kern="0">
                <a:solidFill>
                  <a:srgbClr val="697077"/>
                </a:solidFill>
                <a:latin typeface="IBM Plex Mono" panose="020B0509050203000203" pitchFamily="49" charset="77"/>
              </a:rPr>
              <a:t>Qiskit Fall Fest 2025</a:t>
            </a:r>
            <a:endParaRPr lang="en-US" kern="0" dirty="0">
              <a:solidFill>
                <a:srgbClr val="697077"/>
              </a:solidFill>
              <a:latin typeface="IBM Plex Mono" panose="020B0509050203000203" pitchFamily="49" charset="77"/>
            </a:endParaRP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F8DACD11-B02B-184F-A7C8-9683993F047D}"/>
              </a:ext>
            </a:extLst>
          </p:cNvPr>
          <p:cNvSpPr txBox="1">
            <a:spLocks/>
          </p:cNvSpPr>
          <p:nvPr/>
        </p:nvSpPr>
        <p:spPr>
          <a:xfrm>
            <a:off x="576072" y="1527048"/>
            <a:ext cx="10099675" cy="9337675"/>
          </a:xfrm>
          <a:prstGeom prst="rect">
            <a:avLst/>
          </a:prstGeom>
        </p:spPr>
        <p:txBody>
          <a:bodyPr/>
          <a:lstStyle>
            <a:lvl1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chemeClr val="tx2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362568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725139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108770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145027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kern="0" dirty="0">
                <a:solidFill>
                  <a:schemeClr val="tx1"/>
                </a:solidFill>
              </a:rPr>
              <a:t>Thanks for Coming!!!</a:t>
            </a:r>
            <a:br>
              <a:rPr lang="en-US" kern="0" dirty="0">
                <a:solidFill>
                  <a:schemeClr val="tx1"/>
                </a:solidFill>
              </a:rPr>
            </a:br>
            <a:endParaRPr lang="en-US" kern="0" dirty="0">
              <a:solidFill>
                <a:schemeClr val="tx1"/>
              </a:solidFill>
            </a:endParaRP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2E9214AB-CC49-1F4B-7CF2-9C04DA5EE615}"/>
              </a:ext>
            </a:extLst>
          </p:cNvPr>
          <p:cNvSpPr txBox="1">
            <a:spLocks/>
          </p:cNvSpPr>
          <p:nvPr/>
        </p:nvSpPr>
        <p:spPr>
          <a:xfrm>
            <a:off x="568325" y="4253501"/>
            <a:ext cx="9048286" cy="7935451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1829379" rtl="0" eaLnBrk="1" latinLnBrk="0" hangingPunct="1">
              <a:defRPr sz="1600" b="0" i="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91468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9379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406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8759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3447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813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2827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751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b="1" dirty="0">
              <a:effectLst/>
              <a:latin typeface="+mj-lt"/>
            </a:endParaRPr>
          </a:p>
          <a:p>
            <a:endParaRPr lang="en-US" sz="2800" b="1" dirty="0">
              <a:latin typeface="+mj-lt"/>
            </a:endParaRPr>
          </a:p>
          <a:p>
            <a:r>
              <a:rPr lang="en-US" sz="2800" b="1" dirty="0">
                <a:solidFill>
                  <a:srgbClr val="8A3FFC"/>
                </a:solidFill>
                <a:effectLst/>
                <a:latin typeface="+mj-lt"/>
              </a:rPr>
              <a:t>Deadline for Submissions: </a:t>
            </a:r>
            <a:r>
              <a:rPr lang="en-US" sz="2800" dirty="0">
                <a:latin typeface="+mj-lt"/>
              </a:rPr>
              <a:t>Monday Nov 24, 10 am PT</a:t>
            </a:r>
          </a:p>
          <a:p>
            <a:endParaRPr lang="en-US" sz="2800" dirty="0">
              <a:effectLst/>
              <a:latin typeface="+mj-lt"/>
            </a:endParaRPr>
          </a:p>
          <a:p>
            <a:endParaRPr lang="en-US" sz="2800" dirty="0">
              <a:effectLst/>
              <a:latin typeface="+mj-lt"/>
            </a:endParaRPr>
          </a:p>
          <a:p>
            <a:endParaRPr lang="en-US" sz="2800" b="1" dirty="0">
              <a:latin typeface="+mj-lt"/>
            </a:endParaRPr>
          </a:p>
          <a:p>
            <a:endParaRPr lang="en-US" sz="2800" b="1" dirty="0">
              <a:latin typeface="+mj-lt"/>
            </a:endParaRPr>
          </a:p>
          <a:p>
            <a:r>
              <a:rPr lang="en-US" sz="2800" b="1" dirty="0">
                <a:solidFill>
                  <a:srgbClr val="8A3FFC"/>
                </a:solidFill>
                <a:latin typeface="+mj-lt"/>
              </a:rPr>
              <a:t>Next IRL Meetup: </a:t>
            </a:r>
            <a:r>
              <a:rPr lang="en-US" sz="2800" dirty="0">
                <a:latin typeface="+mj-lt"/>
              </a:rPr>
              <a:t>Saturday Nov 1, 2 pm PT</a:t>
            </a:r>
          </a:p>
          <a:p>
            <a:endParaRPr lang="en-US" sz="2800" dirty="0">
              <a:latin typeface="+mj-lt"/>
            </a:endParaRPr>
          </a:p>
          <a:p>
            <a:endParaRPr lang="en-US" sz="2800" dirty="0">
              <a:latin typeface="+mj-lt"/>
            </a:endParaRPr>
          </a:p>
          <a:p>
            <a:endParaRPr lang="en-US" sz="2800" dirty="0">
              <a:effectLst/>
              <a:latin typeface="+mj-lt"/>
            </a:endParaRPr>
          </a:p>
          <a:p>
            <a:r>
              <a:rPr lang="en-US" sz="2800" b="1" dirty="0">
                <a:solidFill>
                  <a:srgbClr val="8A3FFC"/>
                </a:solidFill>
                <a:latin typeface="+mj-lt"/>
              </a:rPr>
              <a:t>Upcoming</a:t>
            </a:r>
            <a:r>
              <a:rPr lang="en-US" sz="2800" b="1" dirty="0">
                <a:solidFill>
                  <a:srgbClr val="8A3FFC"/>
                </a:solidFill>
                <a:effectLst/>
                <a:latin typeface="+mj-lt"/>
              </a:rPr>
              <a:t> Event: </a:t>
            </a:r>
            <a:r>
              <a:rPr lang="en-US" sz="2800" dirty="0" err="1">
                <a:effectLst/>
                <a:latin typeface="+mj-lt"/>
              </a:rPr>
              <a:t>TechAlliance</a:t>
            </a:r>
            <a:r>
              <a:rPr lang="en-US" sz="2800" dirty="0">
                <a:effectLst/>
                <a:latin typeface="+mj-lt"/>
              </a:rPr>
              <a:t>, Nov 19, South Seattle</a:t>
            </a:r>
          </a:p>
          <a:p>
            <a:endParaRPr lang="en-US" sz="2800" dirty="0">
              <a:effectLst/>
              <a:latin typeface="+mj-lt"/>
            </a:endParaRPr>
          </a:p>
          <a:p>
            <a:endParaRPr lang="en-US" sz="2800" dirty="0">
              <a:effectLst/>
              <a:latin typeface="+mj-lt"/>
            </a:endParaRPr>
          </a:p>
          <a:p>
            <a:endParaRPr lang="en-US" sz="2800" b="1" dirty="0">
              <a:solidFill>
                <a:srgbClr val="8A3FFC"/>
              </a:solidFill>
              <a:latin typeface="+mj-lt"/>
            </a:endParaRPr>
          </a:p>
          <a:p>
            <a:r>
              <a:rPr lang="en-US" sz="2800" b="1" dirty="0">
                <a:solidFill>
                  <a:srgbClr val="8A3FFC"/>
                </a:solidFill>
                <a:latin typeface="+mj-lt"/>
              </a:rPr>
              <a:t>Upcoming </a:t>
            </a:r>
            <a:r>
              <a:rPr lang="en-US" sz="2800" b="1" dirty="0">
                <a:solidFill>
                  <a:srgbClr val="8A3FFC"/>
                </a:solidFill>
                <a:effectLst/>
                <a:latin typeface="+mj-lt"/>
              </a:rPr>
              <a:t>Meetup: </a:t>
            </a:r>
            <a:r>
              <a:rPr lang="en-US" sz="2800" dirty="0">
                <a:effectLst/>
                <a:latin typeface="+mj-lt"/>
              </a:rPr>
              <a:t>Date? in </a:t>
            </a:r>
            <a:r>
              <a:rPr lang="en-US" sz="2800" dirty="0">
                <a:latin typeface="+mj-lt"/>
              </a:rPr>
              <a:t>December w/</a:t>
            </a:r>
            <a:r>
              <a:rPr lang="en-US" sz="2800" dirty="0">
                <a:solidFill>
                  <a:srgbClr val="FF0000"/>
                </a:solidFill>
                <a:latin typeface="+mj-lt"/>
              </a:rPr>
              <a:t>Holiday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>
                <a:solidFill>
                  <a:srgbClr val="24A148"/>
                </a:solidFill>
                <a:latin typeface="+mj-lt"/>
              </a:rPr>
              <a:t>Party</a:t>
            </a:r>
            <a:br>
              <a:rPr lang="en-US" sz="2800" dirty="0">
                <a:effectLst/>
                <a:latin typeface="IBM Plex Sans Light" panose="020B0403050203000203" pitchFamily="34" charset="0"/>
              </a:rPr>
            </a:br>
            <a:endParaRPr lang="en-US" sz="2800" dirty="0">
              <a:effectLst/>
              <a:latin typeface="IBM Plex Sans Light" panose="020B0403050203000203" pitchFamily="34" charset="0"/>
            </a:endParaRPr>
          </a:p>
          <a:p>
            <a:br>
              <a:rPr lang="en-US" sz="2800" dirty="0">
                <a:effectLst/>
                <a:latin typeface="+mj-lt"/>
              </a:rPr>
            </a:br>
            <a:endParaRPr lang="en-US" sz="2800" dirty="0">
              <a:effectLst/>
              <a:latin typeface="+mj-lt"/>
            </a:endParaRPr>
          </a:p>
          <a:p>
            <a:endParaRPr lang="en-US" sz="2800" dirty="0">
              <a:latin typeface="+mj-lt"/>
            </a:endParaRPr>
          </a:p>
          <a:p>
            <a:endParaRPr lang="en-US" sz="2800" dirty="0">
              <a:effectLst/>
              <a:latin typeface="+mj-lt"/>
            </a:endParaRPr>
          </a:p>
        </p:txBody>
      </p:sp>
      <p:pic>
        <p:nvPicPr>
          <p:cNvPr id="2" name="Graphic 6">
            <a:extLst>
              <a:ext uri="{FF2B5EF4-FFF2-40B4-BE49-F238E27FC236}">
                <a16:creationId xmlns:a16="http://schemas.microsoft.com/office/drawing/2014/main" id="{A6985911-27D4-2B6F-B069-00BCDE5DDE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245135" y="188681"/>
            <a:ext cx="9142040" cy="1352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24125"/>
      </p:ext>
    </p:extLst>
  </p:cSld>
  <p:clrMapOvr>
    <a:masterClrMapping/>
  </p:clrMapOvr>
</p:sld>
</file>

<file path=ppt/theme/theme1.xml><?xml version="1.0" encoding="utf-8"?>
<a:theme xmlns:a="http://schemas.openxmlformats.org/drawingml/2006/main" name="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Quantum_Presentation_Template_Plex_Embed" id="{E751D091-48B7-B947-A3EB-61D5938A941E}" vid="{BBD60A32-9C2D-5B41-BB36-F4AA98EC1F0C}"/>
    </a:ext>
  </a:extLst>
</a:theme>
</file>

<file path=ppt/theme/theme2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ppt/theme/theme3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IBM presentation template</Template>
  <TotalTime>5085</TotalTime>
  <Words>514</Words>
  <Application>Microsoft Office PowerPoint</Application>
  <PresentationFormat>Custom</PresentationFormat>
  <Paragraphs>118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Calibri</vt:lpstr>
      <vt:lpstr>IBM Plex Mono</vt:lpstr>
      <vt:lpstr>IBM Plex Sans</vt:lpstr>
      <vt:lpstr>IBM Plex Sans ExtLt</vt:lpstr>
      <vt:lpstr>IBM Plex Sans Light</vt:lpstr>
      <vt:lpstr>IBM Plex Sans Medm</vt:lpstr>
      <vt:lpstr>IBM presentation template</vt:lpstr>
      <vt:lpstr>PowerPoint Presentation</vt:lpstr>
      <vt:lpstr>Agenda</vt:lpstr>
      <vt:lpstr>Announcements + What is the Fall Fest?</vt:lpstr>
      <vt:lpstr>Qiskit Learning Resources</vt:lpstr>
      <vt:lpstr>Qiskit Jupyter Notebooks</vt:lpstr>
      <vt:lpstr>Qiskit Beginner Challenge Notebook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Templates  Sample layouts</dc:title>
  <dc:subject/>
  <dc:creator>NATALIE TAYLOR</dc:creator>
  <cp:keywords/>
  <dc:description/>
  <cp:lastModifiedBy>Natalie Hawkins</cp:lastModifiedBy>
  <cp:revision>149</cp:revision>
  <cp:lastPrinted>2019-04-25T15:14:05Z</cp:lastPrinted>
  <dcterms:created xsi:type="dcterms:W3CDTF">2024-04-30T19:03:56Z</dcterms:created>
  <dcterms:modified xsi:type="dcterms:W3CDTF">2025-10-29T05:09:00Z</dcterms:modified>
  <cp:category/>
</cp:coreProperties>
</file>