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962" r:id="rId1"/>
  </p:sldMasterIdLst>
  <p:notesMasterIdLst>
    <p:notesMasterId r:id="rId22"/>
  </p:notesMasterIdLst>
  <p:handoutMasterIdLst>
    <p:handoutMasterId r:id="rId23"/>
  </p:handoutMasterIdLst>
  <p:sldIdLst>
    <p:sldId id="257" r:id="rId2"/>
    <p:sldId id="405" r:id="rId3"/>
    <p:sldId id="637" r:id="rId4"/>
    <p:sldId id="636" r:id="rId5"/>
    <p:sldId id="638" r:id="rId6"/>
    <p:sldId id="421" r:id="rId7"/>
    <p:sldId id="410" r:id="rId8"/>
    <p:sldId id="627" r:id="rId9"/>
    <p:sldId id="625" r:id="rId10"/>
    <p:sldId id="626" r:id="rId11"/>
    <p:sldId id="470" r:id="rId12"/>
    <p:sldId id="630" r:id="rId13"/>
    <p:sldId id="634" r:id="rId14"/>
    <p:sldId id="635" r:id="rId15"/>
    <p:sldId id="631" r:id="rId16"/>
    <p:sldId id="633" r:id="rId17"/>
    <p:sldId id="629" r:id="rId18"/>
    <p:sldId id="639" r:id="rId19"/>
    <p:sldId id="632" r:id="rId20"/>
    <p:sldId id="624" r:id="rId21"/>
  </p:sldIdLst>
  <p:sldSz cx="24387175" cy="13716000"/>
  <p:notesSz cx="6858000" cy="9144000"/>
  <p:defaultTextStyle>
    <a:defPPr>
      <a:defRPr lang="en-US"/>
    </a:defPPr>
    <a:lvl1pPr marL="0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68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937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406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8759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344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813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2827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7518" algn="l" defTabSz="182937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 Options" id="{161364A9-2106-084F-BFD9-DE7ABBB6242C}">
          <p14:sldIdLst/>
        </p14:section>
        <p14:section name="Template slides" id="{4700659D-582D-3B47-8AF6-59C9324AA29A}">
          <p14:sldIdLst>
            <p14:sldId id="257"/>
            <p14:sldId id="405"/>
            <p14:sldId id="637"/>
            <p14:sldId id="636"/>
            <p14:sldId id="638"/>
            <p14:sldId id="421"/>
            <p14:sldId id="410"/>
            <p14:sldId id="627"/>
            <p14:sldId id="625"/>
            <p14:sldId id="626"/>
            <p14:sldId id="470"/>
            <p14:sldId id="630"/>
            <p14:sldId id="634"/>
            <p14:sldId id="635"/>
            <p14:sldId id="631"/>
            <p14:sldId id="633"/>
            <p14:sldId id="629"/>
            <p14:sldId id="639"/>
            <p14:sldId id="632"/>
            <p14:sldId id="624"/>
          </p14:sldIdLst>
        </p14:section>
        <p14:section name="Selected Pictograms" id="{A71DFE44-60A9-FA4A-8A00-EEDEE7195C5C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achary Anderson" initials="ZA" lastIdx="26" clrIdx="0">
    <p:extLst>
      <p:ext uri="{19B8F6BF-5375-455C-9EA6-DF929625EA0E}">
        <p15:presenceInfo xmlns:p15="http://schemas.microsoft.com/office/powerpoint/2012/main" userId="S::zanderson@vsapartners.com::b6da4b55-2f36-4779-ba8b-606d779a32e3" providerId="AD"/>
      </p:ext>
    </p:extLst>
  </p:cmAuthor>
  <p:cmAuthor id="2" name="Liz Sadler" initials="LS" lastIdx="36" clrIdx="1">
    <p:extLst>
      <p:ext uri="{19B8F6BF-5375-455C-9EA6-DF929625EA0E}">
        <p15:presenceInfo xmlns:p15="http://schemas.microsoft.com/office/powerpoint/2012/main" userId="Liz Sadl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7077"/>
    <a:srgbClr val="FF7EB6"/>
    <a:srgbClr val="BE95FF"/>
    <a:srgbClr val="21272A"/>
    <a:srgbClr val="1216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28"/>
    <p:restoredTop sz="96327"/>
  </p:normalViewPr>
  <p:slideViewPr>
    <p:cSldViewPr snapToGrid="0" snapToObjects="1">
      <p:cViewPr varScale="1">
        <p:scale>
          <a:sx n="63" d="100"/>
          <a:sy n="63" d="100"/>
        </p:scale>
        <p:origin x="340" y="272"/>
      </p:cViewPr>
      <p:guideLst/>
    </p:cSldViewPr>
  </p:slideViewPr>
  <p:outlineViewPr>
    <p:cViewPr>
      <p:scale>
        <a:sx n="33" d="100"/>
        <a:sy n="33" d="100"/>
      </p:scale>
      <p:origin x="-56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1945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1200"/>
            </a:lvl1pPr>
          </a:lstStyle>
          <a:p>
            <a:pPr algn="l"/>
            <a:fld id="{614B4878-71CB-8F40-B9DD-F26F1F6CA014}" type="slidenum">
              <a:rPr lang="en-US" sz="600" smtClean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pPr algn="l"/>
              <a:t>‹#›</a:t>
            </a:fld>
            <a:endParaRPr lang="en-US" sz="600">
              <a:solidFill>
                <a:schemeClr val="bg1"/>
              </a:solidFill>
              <a:latin typeface="IBM Plex Sans Light" panose="020B0503050203000203" pitchFamily="34" charset="0"/>
              <a:ea typeface="IBM Plex Sans Light" charset="0"/>
              <a:cs typeface="IBM Plex Sans Light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63093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200"/>
            </a:lvl1pPr>
          </a:lstStyle>
          <a:p>
            <a:r>
              <a:rPr lang="en-US" sz="600">
                <a:solidFill>
                  <a:schemeClr val="bg1"/>
                </a:solidFill>
                <a:latin typeface="IBM Plex Sans Light" panose="020B0503050203000203" pitchFamily="34" charset="0"/>
                <a:ea typeface="IBM Plex Sans Light" charset="0"/>
                <a:cs typeface="IBM Plex Sans Light" charset="0"/>
              </a:rPr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4480278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06710" y="228600"/>
            <a:ext cx="6419088" cy="3612324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8" name="Notes Placeholder 7">
            <a:extLst>
              <a:ext uri="{FF2B5EF4-FFF2-40B4-BE49-F238E27FC236}">
                <a16:creationId xmlns:a16="http://schemas.microsoft.com/office/drawing/2014/main" id="{6ABF5568-9620-E34F-9423-054ABD0598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06710" y="4087090"/>
            <a:ext cx="6419088" cy="4320309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300216" y="8705088"/>
            <a:ext cx="338328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r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fld id="{6E2E38B8-B0B4-AD41-AC6E-B781F46A9FD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19456" y="8705088"/>
            <a:ext cx="3657600" cy="2286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600" b="0" i="0">
                <a:solidFill>
                  <a:schemeClr val="bg1"/>
                </a:solidFill>
                <a:latin typeface="IBM Plex Sans Light" panose="020B0503050203000203" pitchFamily="34" charset="0"/>
                <a:ea typeface="IBM Plex Sans Light" panose="020B0503050203000203" pitchFamily="34" charset="0"/>
                <a:cs typeface="IBM Plex Sans Light" panose="020B0503050203000203" pitchFamily="34" charset="0"/>
              </a:defRPr>
            </a:lvl1pPr>
          </a:lstStyle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79159858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2438522" rtl="0" eaLnBrk="1" latinLnBrk="0" hangingPunct="1">
      <a:lnSpc>
        <a:spcPct val="110000"/>
      </a:lnSpc>
      <a:spcBef>
        <a:spcPts val="0"/>
      </a:spcBef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1pPr>
    <a:lvl2pPr marL="465690" indent="-452991" algn="l" defTabSz="2438522" rtl="0" eaLnBrk="1" latinLnBrk="0" hangingPunct="1">
      <a:lnSpc>
        <a:spcPct val="110000"/>
      </a:lnSpc>
      <a:spcBef>
        <a:spcPts val="0"/>
      </a:spcBef>
      <a:buFont typeface="IBM Plex Sans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2pPr>
    <a:lvl3pPr marL="926638" indent="-463319" algn="l" defTabSz="2438522" rtl="0" eaLnBrk="1" latinLnBrk="0" hangingPunct="1">
      <a:lnSpc>
        <a:spcPct val="110000"/>
      </a:lnSpc>
      <a:spcBef>
        <a:spcPts val="0"/>
      </a:spcBef>
      <a:buFont typeface="IBM Plex Sans Light" panose="020B0604020202020204" pitchFamily="34" charset="0"/>
      <a:buChar char="•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3pPr>
    <a:lvl4pPr marL="1682580" indent="-463319" algn="l" defTabSz="2438522" rtl="0" eaLnBrk="1" latinLnBrk="0" hangingPunct="1">
      <a:lnSpc>
        <a:spcPct val="110000"/>
      </a:lnSpc>
      <a:spcBef>
        <a:spcPts val="0"/>
      </a:spcBef>
      <a:buFont typeface="IBM Plex Sans Light"/>
      <a:buChar char="–"/>
      <a:tabLst/>
      <a:defRPr sz="12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4pPr>
    <a:lvl5pPr marL="465690" marR="0" indent="-452991" algn="l" defTabSz="2438522" rtl="0" eaLnBrk="1" fontAlgn="base" latinLnBrk="0" hangingPunct="1">
      <a:lnSpc>
        <a:spcPct val="100000"/>
      </a:lnSpc>
      <a:spcBef>
        <a:spcPts val="1600"/>
      </a:spcBef>
      <a:spcAft>
        <a:spcPct val="0"/>
      </a:spcAft>
      <a:buClr>
        <a:srgbClr val="000000"/>
      </a:buClr>
      <a:buSzTx/>
      <a:buFont typeface="IBM Plex Sans Light" charset="-120"/>
      <a:buChar char="»"/>
      <a:tabLst/>
      <a:defRPr sz="2000" b="0" i="0" kern="1200">
        <a:solidFill>
          <a:schemeClr val="bg1"/>
        </a:solidFill>
        <a:latin typeface="IBM Plex Sans Light" panose="020B0503050203000203" pitchFamily="34" charset="0"/>
        <a:ea typeface="+mn-ea"/>
        <a:cs typeface="+mn-cs"/>
      </a:defRPr>
    </a:lvl5pPr>
    <a:lvl6pPr marL="6096305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6pPr>
    <a:lvl7pPr marL="7315566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7pPr>
    <a:lvl8pPr marL="8534827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8pPr>
    <a:lvl9pPr marL="9754088" algn="l" defTabSz="2438522" rtl="0" eaLnBrk="1" latinLnBrk="0" hangingPunct="1">
      <a:defRPr sz="3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717028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Group Name / DOC ID / Month XX, 2022 / © 2022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04215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 descr="Place imagery here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24387175" cy="12001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6288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12088368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71501" y="12084739"/>
            <a:ext cx="4937887" cy="1143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 descr="IBM 8-bar logo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795180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/>
          <a:lstStyle>
            <a:lvl1pPr>
              <a:lnSpc>
                <a:spcPct val="100000"/>
              </a:lnSpc>
              <a:defRPr sz="8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878651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45735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76072" y="12463272"/>
            <a:ext cx="11050588" cy="762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279951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174950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0101072" cy="10479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9" name="Picture 8" descr="IBM 8-bar logo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61400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576072"/>
            <a:ext cx="10099675" cy="571500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0099675" cy="9337675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77850" y="12526963"/>
            <a:ext cx="16383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020936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8862675" y="569913"/>
            <a:ext cx="4949825" cy="11431587"/>
          </a:xfrm>
        </p:spPr>
        <p:txBody>
          <a:bodyPr/>
          <a:lstStyle>
            <a:lvl1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116128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30394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8" cy="2859087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3910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675" y="420624"/>
            <a:ext cx="17141825" cy="8191500"/>
          </a:xfrm>
        </p:spPr>
        <p:txBody>
          <a:bodyPr/>
          <a:lstStyle>
            <a:lvl1pPr>
              <a:defRPr sz="17200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0837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9909175" cy="2859087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767252" y="448056"/>
            <a:ext cx="11042073" cy="8574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 marL="585216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2pPr>
            <a:lvl3pPr marL="1097280" indent="-585216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3pPr>
            <a:lvl4pPr marL="1755648"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0607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420624"/>
            <a:ext cx="14662150" cy="9717087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60319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2"/>
            <a:ext cx="7623175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6072" y="9299448"/>
            <a:ext cx="11050588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↗︎00M</a:t>
            </a:r>
          </a:p>
        </p:txBody>
      </p:sp>
      <p:cxnSp>
        <p:nvCxnSpPr>
          <p:cNvPr id="9" name="Straight Connector 8" descr="Vertical column divider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12193587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7620000" cy="62880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763500" y="9296400"/>
            <a:ext cx="11049000" cy="354330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25800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 dirty="0"/>
              <a:t>+00%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196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29768"/>
            <a:ext cx="4951413" cy="1907912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2333068"/>
            <a:ext cx="4951413" cy="967304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768263" y="426481"/>
            <a:ext cx="4949825" cy="1906588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2334654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8859500" y="429654"/>
            <a:ext cx="4949825" cy="1903413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2333067"/>
            <a:ext cx="4953000" cy="9666845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68050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4675" y="402336"/>
            <a:ext cx="4949825" cy="5335588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402336"/>
            <a:ext cx="11049000" cy="5335587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4675" y="6477000"/>
            <a:ext cx="4949825" cy="5334000"/>
          </a:xfrm>
        </p:spPr>
        <p:txBody>
          <a:bodyPr/>
          <a:lstStyle>
            <a:lvl1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86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6477000"/>
            <a:ext cx="11049000" cy="533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1pPr>
            <a:lvl2pPr marL="786384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2pPr>
            <a:lvl3pPr marL="1499616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3pPr>
            <a:lvl4pPr marL="2286000" indent="-786384"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8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64434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67500" y="411480"/>
            <a:ext cx="4951413" cy="2859087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 dirty="0"/>
              <a:t>00%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7620000" cy="2859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7" name="Straight Connector 16" descr="Horizontal row divider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6667500" y="4000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67500" y="4187952"/>
            <a:ext cx="4951413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5" name="Straight Connector 14" descr="Horizontal row divider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6667500" y="8191500"/>
            <a:ext cx="1714500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67501" y="8403336"/>
            <a:ext cx="4951411" cy="2857506"/>
          </a:xfrm>
        </p:spPr>
        <p:txBody>
          <a:bodyPr/>
          <a:lstStyle>
            <a:lvl1pPr>
              <a:lnSpc>
                <a:spcPct val="90000"/>
              </a:lnSpc>
              <a:defRPr sz="13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00%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7620000" cy="2857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2042775"/>
            <a:ext cx="4951413" cy="11430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11160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13497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9437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3429000"/>
            <a:ext cx="0" cy="8572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1" name="Straight Connector 20" descr="Vertical column divider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12188952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2" name="Straight Connector 21" descr="Vertical column divider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18288000" y="3429000"/>
            <a:ext cx="0" cy="857707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310234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576072"/>
            <a:ext cx="4956175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68324" y="1280423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707034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097087"/>
          </a:xfrm>
        </p:spPr>
        <p:txBody>
          <a:bodyPr/>
          <a:lstStyle>
            <a:lvl1pPr>
              <a:lnSpc>
                <a:spcPct val="110000"/>
              </a:lnSpc>
              <a:defRPr sz="2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4956175" cy="40005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6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667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76353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8031" y="3429000"/>
            <a:ext cx="494212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8859500" y="576072"/>
            <a:ext cx="1216152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1" y="3429000"/>
            <a:ext cx="4952999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99409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2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5976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2800"/>
            </a:lvl2pPr>
            <a:lvl3pPr>
              <a:spcBef>
                <a:spcPts val="0"/>
              </a:spcBef>
              <a:defRPr sz="2800"/>
            </a:lvl3pPr>
            <a:lvl4pPr>
              <a:spcBef>
                <a:spcPts val="0"/>
              </a:spcBef>
              <a:defRPr sz="2800"/>
            </a:lvl4pPr>
            <a:lvl5pPr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4967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7424927" cy="1906588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3429000"/>
            <a:ext cx="100996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3429000"/>
            <a:ext cx="100965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45124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2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821703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3000" cy="4573587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95605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6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2675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0831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6" cy="4573587"/>
          </a:xfrm>
        </p:spPr>
        <p:txBody>
          <a:bodyPr rIns="0"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15255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65850" y="3429000"/>
            <a:ext cx="4953000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240754"/>
      </p:ext>
    </p:extLst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4949825" cy="1141413"/>
          </a:xfrm>
        </p:spPr>
        <p:txBody>
          <a:bodyPr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9151" y="384048"/>
            <a:ext cx="4956175" cy="1141412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2800"/>
            </a:lvl2pPr>
            <a:lvl3pPr>
              <a:lnSpc>
                <a:spcPct val="90000"/>
              </a:lnSpc>
              <a:spcBef>
                <a:spcPts val="0"/>
              </a:spcBef>
              <a:defRPr sz="2800"/>
            </a:lvl3pPr>
            <a:lvl4pPr>
              <a:lnSpc>
                <a:spcPct val="90000"/>
              </a:lnSpc>
              <a:spcBef>
                <a:spcPts val="0"/>
              </a:spcBef>
              <a:defRPr sz="2800"/>
            </a:lvl4pPr>
            <a:lvl5pPr>
              <a:lnSpc>
                <a:spcPct val="90000"/>
              </a:lnSpc>
              <a:spcBef>
                <a:spcPts val="0"/>
              </a:spcBef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12188952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Picture Placeholder 4" descr="Place pictogram here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446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638" y="3429000"/>
            <a:ext cx="495300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 descr="Place pictogram here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18859500" y="576072"/>
            <a:ext cx="1217844" cy="1216152"/>
          </a:xfrm>
        </p:spPr>
        <p:txBody>
          <a:bodyPr anchor="ctr"/>
          <a:lstStyle>
            <a:lvl1pPr algn="ctr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63638" y="3429000"/>
            <a:ext cx="4959350" cy="8572500"/>
          </a:xfrm>
        </p:spPr>
        <p:txBody>
          <a:bodyPr/>
          <a:lstStyle>
            <a:lvl1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8288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36576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548640" indent="-182880"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2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412524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 descr="Place pictogram here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6072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2478024"/>
            <a:ext cx="6670675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 descr="Vertical column divider">
            <a:extLst>
              <a:ext uri="{FF2B5EF4-FFF2-40B4-BE49-F238E27FC236}">
                <a16:creationId xmlns:a16="http://schemas.microsoft.com/office/drawing/2014/main" id="{00A530A6-2F26-DA70-D0D9-6DD90453CEC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4" descr="Place pictogram here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2763500" y="576072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24765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9C5483A0-0E31-72CE-21C3-6248FAEBC09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6" descr="Place pictogram here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76072" y="6473951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8385048"/>
            <a:ext cx="6670676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18" descr="Place pictogram here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0" y="6477000"/>
            <a:ext cx="1216152" cy="1216152"/>
          </a:xfrm>
        </p:spPr>
        <p:txBody>
          <a:bodyPr anchor="ctr"/>
          <a:lstStyle>
            <a:lvl1pPr algn="ctr">
              <a:defRPr sz="16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1" y="8382000"/>
            <a:ext cx="6667500" cy="3048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1pPr>
            <a:lvl2pPr marL="402336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2pPr>
            <a:lvl3pPr marL="804672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3pPr>
            <a:lvl4pPr marL="1115568" indent="-402336"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96384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1141412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682496"/>
            <a:ext cx="5715000" cy="2276856"/>
          </a:xfrm>
        </p:spPr>
        <p:txBody>
          <a:bodyPr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5024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33241"/>
      </p:ext>
    </p:extLst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072" y="576072"/>
            <a:ext cx="4956175" cy="448056"/>
          </a:xfrm>
        </p:spPr>
        <p:txBody>
          <a:bodyPr/>
          <a:lstStyle>
            <a:lvl1pPr>
              <a:defRPr sz="28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 rIns="457200"/>
          <a:lstStyle>
            <a:lvl1pPr>
              <a:lnSpc>
                <a:spcPct val="11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69913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69913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810613"/>
      </p:ext>
    </p:extLst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56175" cy="4573587"/>
          </a:xfrm>
        </p:spPr>
        <p:txBody>
          <a:bodyPr/>
          <a:lstStyle>
            <a:lvl1pPr>
              <a:lnSpc>
                <a:spcPct val="10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324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362297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50589" cy="4573587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76072" y="6656832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776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534491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828484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65976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5145087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69151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500"/>
            <a:ext cx="4953000" cy="4953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056091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28590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4" name="Straight Connector 23" descr="Vertical column divider">
            <a:extLst>
              <a:ext uri="{FF2B5EF4-FFF2-40B4-BE49-F238E27FC236}">
                <a16:creationId xmlns:a16="http://schemas.microsoft.com/office/drawing/2014/main" id="{B5CBE6E3-0E18-8A57-578D-D314948AF14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6096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5" descr="Place icon here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67500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67500" y="1333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8" name="Straight Connector 27" descr="Vertical column divider">
            <a:extLst>
              <a:ext uri="{FF2B5EF4-FFF2-40B4-BE49-F238E27FC236}">
                <a16:creationId xmlns:a16="http://schemas.microsoft.com/office/drawing/2014/main" id="{52FF3B59-8BBA-8C99-9D4D-743723E434F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Picture Placeholder 15" descr="Place icon here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2763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7" name="Straight Connector 26" descr="Vertical column divider">
            <a:extLst>
              <a:ext uri="{FF2B5EF4-FFF2-40B4-BE49-F238E27FC236}">
                <a16:creationId xmlns:a16="http://schemas.microsoft.com/office/drawing/2014/main" id="{47200B05-7E36-4E03-3739-0BA98376461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Picture Placeholder 15" descr="Place icon here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8859501" y="576072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59501" y="1333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3" name="Straight Connector 22" descr="Horizontal row divider">
            <a:extLst>
              <a:ext uri="{FF2B5EF4-FFF2-40B4-BE49-F238E27FC236}">
                <a16:creationId xmlns:a16="http://schemas.microsoft.com/office/drawing/2014/main" id="{252CDB94-BA57-B58F-95F0-D406FE34BB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17722850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Picture Placeholder 15" descr="Place icon here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667500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7500" y="7429500"/>
            <a:ext cx="4951413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Picture Placeholder 15" descr="Place icon here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12763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763501" y="7429500"/>
            <a:ext cx="4951413" cy="3792682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15" descr="Place icon here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8859501" y="6694631"/>
            <a:ext cx="402336" cy="4032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8859501" y="7429500"/>
            <a:ext cx="4953000" cy="3810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1pPr>
            <a:lvl2pPr marL="219456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2pPr>
            <a:lvl3pPr marL="438912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3pPr>
            <a:lvl4pPr marL="658368" indent="-219456"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205542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39475" cy="3413126"/>
          </a:xfrm>
        </p:spPr>
        <p:txBody>
          <a:bodyPr rIns="457200"/>
          <a:lstStyle>
            <a:lvl1pPr>
              <a:lnSpc>
                <a:spcPct val="100000"/>
              </a:lnSpc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072" y="6665976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51217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3413126"/>
          </a:xfrm>
        </p:spPr>
        <p:txBody>
          <a:bodyPr rIns="0"/>
          <a:lstStyle>
            <a:lvl1pPr>
              <a:lnSpc>
                <a:spcPct val="110000"/>
              </a:lnSpc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20" name="Straight Connector 19" descr="Vertical column divider">
            <a:extLst>
              <a:ext uri="{FF2B5EF4-FFF2-40B4-BE49-F238E27FC236}">
                <a16:creationId xmlns:a16="http://schemas.microsoft.com/office/drawing/2014/main" id="{F764036E-86AB-0893-B72B-200B84A6B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763500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 descr="Vertical column divider">
            <a:extLst>
              <a:ext uri="{FF2B5EF4-FFF2-40B4-BE49-F238E27FC236}">
                <a16:creationId xmlns:a16="http://schemas.microsoft.com/office/drawing/2014/main" id="{B87B78A1-A315-98D3-1692-18AAAF4C600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 userDrawn="1"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862675" y="576072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6" name="Straight Connector 15" descr="Horizontal row divider">
            <a:extLst>
              <a:ext uri="{FF2B5EF4-FFF2-40B4-BE49-F238E27FC236}">
                <a16:creationId xmlns:a16="http://schemas.microsoft.com/office/drawing/2014/main" id="{4F455E69-0B51-1D31-E569-651079398D3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57467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016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54C560F4-CB2D-6B04-588B-57BB4D4E6DC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6096000" y="6096000"/>
            <a:ext cx="0" cy="590550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7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8862675" y="6667500"/>
            <a:ext cx="4953000" cy="4954587"/>
          </a:xfrm>
        </p:spPr>
        <p:txBody>
          <a:bodyPr/>
          <a:lstStyle>
            <a:lvl1pPr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216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67500" y="3429000"/>
            <a:ext cx="4951413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Picture Placeholder 10" descr="Place imagery here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36230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 descr="Place imagery here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0"/>
            <a:ext cx="18291175" cy="13716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15442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3429000"/>
            <a:ext cx="4956175" cy="8572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67500" y="565151"/>
            <a:ext cx="17151350" cy="1257934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7768506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" y="0"/>
            <a:ext cx="24387174" cy="13715999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555959" y="12896848"/>
            <a:ext cx="256541" cy="2540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270910"/>
      </p:ext>
    </p:extLst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 descr="Place imagery here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68325" y="569913"/>
            <a:ext cx="23244175" cy="12580936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7694905"/>
      </p:ext>
    </p:extLst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558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7" descr="Place bio portrait here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76072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29000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 descr="Place bio portrait here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576072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429000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 descr="Place bio portrait here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6072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29000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 descr="Place bio portrait here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2757150" y="2667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5617825" y="26670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 descr="Place bio portrait here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12757150" y="61214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5617825" y="6121400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 descr="Place bio portrait here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12757150" y="9525000"/>
            <a:ext cx="2473325" cy="247650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2438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5617825" y="9525001"/>
            <a:ext cx="5708650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1pPr>
            <a:lvl2pPr marL="256032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2pPr>
            <a:lvl3pPr marL="512064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3pPr>
            <a:lvl4pPr marL="768096" indent="-256032"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2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19277"/>
      </p:ext>
    </p:extLst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4573587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6667500" y="569913"/>
            <a:ext cx="17145000" cy="11431587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9029"/>
      </p:ext>
    </p:extLst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187956"/>
      </p:ext>
    </p:extLst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4949825" cy="1527048"/>
          </a:xfrm>
        </p:spPr>
        <p:txBody>
          <a:bodyPr/>
          <a:lstStyle>
            <a:lvl1pPr>
              <a:lnSpc>
                <a:spcPct val="110000"/>
              </a:lnSpc>
              <a:defRPr sz="2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05039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072" y="384048"/>
            <a:ext cx="4956175" cy="2859087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6400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6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63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8859500" y="569913"/>
            <a:ext cx="4953000" cy="11431587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146304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292608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438912" indent="-146304"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 dirty="0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81024" y="12804775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3541592" y="12938838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6161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BM 8-bar logo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50000"/>
          </a:blip>
          <a:stretch>
            <a:fillRect/>
          </a:stretch>
        </p:blipFill>
        <p:spPr>
          <a:xfrm>
            <a:off x="10465371" y="6168460"/>
            <a:ext cx="3456432" cy="1379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384914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>
          <a:xfrm>
            <a:off x="28482123" y="15748382"/>
            <a:ext cx="403507" cy="242695"/>
          </a:xfrm>
        </p:spPr>
        <p:txBody>
          <a:bodyPr lIns="0" tIns="0" rIns="0" bIns="0"/>
          <a:lstStyle>
            <a:lvl1pPr>
              <a:defRPr sz="1577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pPr marL="135543">
              <a:spcBef>
                <a:spcPts val="158"/>
              </a:spcBef>
            </a:pPr>
            <a:fld id="{81D60167-4931-47E6-BA6A-407CBD079E47}" type="slidenum">
              <a:rPr lang="en-US" spc="73" smtClean="0"/>
              <a:pPr marL="135543">
                <a:spcBef>
                  <a:spcPts val="158"/>
                </a:spcBef>
              </a:pPr>
              <a:t>‹#›</a:t>
            </a:fld>
            <a:endParaRPr lang="en-US" spc="73" dirty="0"/>
          </a:p>
        </p:txBody>
      </p:sp>
    </p:spTree>
    <p:extLst>
      <p:ext uri="{BB962C8B-B14F-4D97-AF65-F5344CB8AC3E}">
        <p14:creationId xmlns:p14="http://schemas.microsoft.com/office/powerpoint/2010/main" val="283186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41592" y="12939014"/>
            <a:ext cx="270908" cy="24622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16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576072" y="576072"/>
            <a:ext cx="22590125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574675" y="3327399"/>
            <a:ext cx="22590125" cy="8669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8324" y="12804235"/>
            <a:ext cx="4956176" cy="3810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16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/>
              <a:t>Qiskit Fall Fest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0312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4" r:id="rId1"/>
    <p:sldLayoutId id="2147483904" r:id="rId2"/>
    <p:sldLayoutId id="2147483905" r:id="rId3"/>
    <p:sldLayoutId id="2147483901" r:id="rId4"/>
    <p:sldLayoutId id="2147483692" r:id="rId5"/>
    <p:sldLayoutId id="2147483906" r:id="rId6"/>
    <p:sldLayoutId id="2147483907" r:id="rId7"/>
    <p:sldLayoutId id="2147483910" r:id="rId8"/>
    <p:sldLayoutId id="2147483908" r:id="rId9"/>
    <p:sldLayoutId id="2147483909" r:id="rId10"/>
    <p:sldLayoutId id="2147483912" r:id="rId11"/>
    <p:sldLayoutId id="2147483914" r:id="rId12"/>
    <p:sldLayoutId id="2147483915" r:id="rId13"/>
    <p:sldLayoutId id="2147483913" r:id="rId14"/>
    <p:sldLayoutId id="2147483917" r:id="rId15"/>
    <p:sldLayoutId id="2147483942" r:id="rId16"/>
    <p:sldLayoutId id="2147483919" r:id="rId17"/>
    <p:sldLayoutId id="2147483929" r:id="rId18"/>
    <p:sldLayoutId id="2147483920" r:id="rId19"/>
    <p:sldLayoutId id="2147483930" r:id="rId20"/>
    <p:sldLayoutId id="2147483928" r:id="rId21"/>
    <p:sldLayoutId id="2147483948" r:id="rId22"/>
    <p:sldLayoutId id="2147483927" r:id="rId23"/>
    <p:sldLayoutId id="2147483950" r:id="rId24"/>
    <p:sldLayoutId id="2147483921" r:id="rId25"/>
    <p:sldLayoutId id="2147483916" r:id="rId26"/>
    <p:sldLayoutId id="2147483922" r:id="rId27"/>
    <p:sldLayoutId id="2147483953" r:id="rId28"/>
    <p:sldLayoutId id="2147483956" r:id="rId29"/>
    <p:sldLayoutId id="2147483923" r:id="rId30"/>
    <p:sldLayoutId id="2147483924" r:id="rId31"/>
    <p:sldLayoutId id="2147483926" r:id="rId32"/>
    <p:sldLayoutId id="2147483925" r:id="rId33"/>
    <p:sldLayoutId id="2147483959" r:id="rId34"/>
    <p:sldLayoutId id="2147483937" r:id="rId35"/>
    <p:sldLayoutId id="2147483932" r:id="rId36"/>
    <p:sldLayoutId id="2147483934" r:id="rId37"/>
    <p:sldLayoutId id="2147483935" r:id="rId38"/>
    <p:sldLayoutId id="2147483936" r:id="rId39"/>
    <p:sldLayoutId id="2147483938" r:id="rId40"/>
    <p:sldLayoutId id="2147483939" r:id="rId41"/>
    <p:sldLayoutId id="2147483940" r:id="rId42"/>
    <p:sldLayoutId id="2147483943" r:id="rId43"/>
    <p:sldLayoutId id="2147483960" r:id="rId44"/>
    <p:sldLayoutId id="2147483941" r:id="rId45"/>
    <p:sldLayoutId id="2147483963" r:id="rId46"/>
  </p:sldLayoutIdLst>
  <p:transition spd="med"/>
  <p:hf hdr="0" dt="0"/>
  <p:txStyles>
    <p:titleStyle>
      <a:lvl1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362568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725139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108770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1450276" algn="l" defTabSz="2438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6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329184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658368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987552" marR="0" indent="-329184" algn="l" defTabSz="2438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36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1143000" marR="0" indent="-457200" algn="l" defTabSz="2438400" rtl="0" eaLnBrk="1" latinLnBrk="0" hangingPunct="1">
        <a:lnSpc>
          <a:spcPct val="110000"/>
        </a:lnSpc>
        <a:spcBef>
          <a:spcPts val="290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184306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2205631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2568200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2930769" marR="0" indent="-389009" algn="l" defTabSz="2438400" rtl="0" eaLnBrk="1" latinLnBrk="0" hangingPunct="1">
        <a:lnSpc>
          <a:spcPct val="100000"/>
        </a:lnSpc>
        <a:spcBef>
          <a:spcPts val="2900"/>
        </a:spcBef>
        <a:spcAft>
          <a:spcPts val="0"/>
        </a:spcAft>
        <a:buClrTx/>
        <a:buSzPct val="100000"/>
        <a:buFontTx/>
        <a:buChar char="»"/>
        <a:tabLst/>
        <a:defRPr sz="3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34299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685982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1028974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1371965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1714956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2057948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2400940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2743931" algn="r" defTabSz="182928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 userDrawn="1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hyperlink" Target="https://lnkd.in/gxuzxhj3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nokia.com/quantum/5-misconceptions-about-q-day/#:~:text=There%20are%20two%20families%20of,which%20are%20currently%20undergoing%20standardization." TargetMode="Externa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www.google.com/search?sca_esv=39b731e95fabc852&amp;sxsrf=AE3TifMcLrIwEWRXeRATxfr2kgAuBBk0aw%3A1761167193980&amp;q=post-quantum+cryptography&amp;sa=X&amp;ved=2ahUKEwi31vKH27iQAxWACjQIHX04EUkQxccNegUIhQEQAQ&amp;mstk=AUtExfDOnX9DJYH7eNKd0XtdEfjvaiXCCn1bbWGcuRqlmrQWBkRuDXzAemnPhHwuYxGqMr1myGL9vR0KitwbG9go16JLb5ODWosX-GTL-hIVonioYA8NrCPgUynLg-DfTNsIsHYnw87acJEW40aP_U5PJ3dc-OAMDRT5n8h3A9IXP7QwQpSSqaQdgzwt3hnd0Mlu2tLv2heI-RQo4oSZoZUYQGKKrXJsbaIBYG2KmNU278QfIDZyWCEzYQTHqrjnpK3zBoSWebl7DrhaXe_3PIQuklVr&amp;csui=3" TargetMode="External"/><Relationship Id="rId5" Type="http://schemas.openxmlformats.org/officeDocument/2006/relationships/hyperlink" Target="https://www.google.com/search?sca_esv=39b731e95fabc852&amp;sxsrf=AE3TifMcLrIwEWRXeRATxfr2kgAuBBk0aw%3A1761167193980&amp;q=Shor%27s+algorithm&amp;sa=X&amp;ved=2ahUKEwi31vKH27iQAxWACjQIHX04EUkQxccNegQIQhAB&amp;mstk=AUtExfDOnX9DJYH7eNKd0XtdEfjvaiXCCn1bbWGcuRqlmrQWBkRuDXzAemnPhHwuYxGqMr1myGL9vR0KitwbG9go16JLb5ODWosX-GTL-hIVonioYA8NrCPgUynLg-DfTNsIsHYnw87acJEW40aP_U5PJ3dc-OAMDRT5n8h3A9IXP7QwQpSSqaQdgzwt3hnd0Mlu2tLv2heI-RQo4oSZoZUYQGKKrXJsbaIBYG2KmNU278QfIDZyWCEzYQTHqrjnpK3zBoSWebl7DrhaXe_3PIQuklVr&amp;csui=3" TargetMode="External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svg"/><Relationship Id="rId7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hyperlink" Target="http://youtube.com/watch?v=yOGi4vmtNaY" TargetMode="External"/><Relationship Id="rId5" Type="http://schemas.openxmlformats.org/officeDocument/2006/relationships/image" Target="../media/image16.png"/><Relationship Id="rId4" Type="http://schemas.openxmlformats.org/officeDocument/2006/relationships/hyperlink" Target="https://www.niso.org/niso-io/2025/01/oreilly-offers-insights-tech-trends-2025#:~:text=Usage%20of%20material%20about%20Software,a%20bearing%20on%20software%20architecture.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9.png"/><Relationship Id="rId4" Type="http://schemas.openxmlformats.org/officeDocument/2006/relationships/hyperlink" Target="https://medium.com/@sampan090611?source=post_page---byline--2d0bc6e9b1a4---------------------------------------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quantumcomputingreport.com/update-on-the-gqi-quantum-resource-estimator-playbook/" TargetMode="Externa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8.xml"/><Relationship Id="rId4" Type="http://schemas.openxmlformats.org/officeDocument/2006/relationships/hyperlink" Target="https://www.youtube.com/watch?v=kV0RsKXSqRg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34548056" y="19131093"/>
            <a:ext cx="489374" cy="262914"/>
          </a:xfrm>
          <a:prstGeom prst="rect">
            <a:avLst/>
          </a:prstGeom>
        </p:spPr>
        <p:txBody>
          <a:bodyPr vert="horz" wrap="square" lIns="0" tIns="20023" rIns="0" bIns="0" rtlCol="0" anchor="b" anchorCtr="0">
            <a:spAutoFit/>
          </a:bodyPr>
          <a:lstStyle/>
          <a:p>
            <a:pPr marL="135543">
              <a:spcBef>
                <a:spcPts val="158"/>
              </a:spcBef>
            </a:pPr>
            <a:fld id="{81D60167-4931-47E6-BA6A-407CBD079E47}" type="slidenum">
              <a:rPr spc="73" dirty="0"/>
              <a:pPr marL="135543">
                <a:spcBef>
                  <a:spcPts val="158"/>
                </a:spcBef>
              </a:pPr>
              <a:t>1</a:t>
            </a:fld>
            <a:endParaRPr spc="73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0D92EB4-C8E6-EF4B-0DEE-8009E8BCB4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2414038" y="577850"/>
            <a:ext cx="11413182" cy="12556259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9DAB9F10-ED24-6167-D7C1-9A9BF05272F4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10099675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2025</a:t>
            </a:r>
            <a:endParaRPr lang="en-US" kern="0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9DF6B376-5A6A-77FE-0DBA-9B017A519100}"/>
              </a:ext>
            </a:extLst>
          </p:cNvPr>
          <p:cNvSpPr txBox="1">
            <a:spLocks/>
          </p:cNvSpPr>
          <p:nvPr/>
        </p:nvSpPr>
        <p:spPr>
          <a:xfrm>
            <a:off x="576072" y="1527048"/>
            <a:ext cx="10099675" cy="9337675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 err="1">
                <a:solidFill>
                  <a:schemeClr val="tx1"/>
                </a:solidFill>
              </a:rPr>
              <a:t>Qiskit</a:t>
            </a:r>
            <a:r>
              <a:rPr lang="en-US" kern="0" dirty="0">
                <a:solidFill>
                  <a:schemeClr val="tx1"/>
                </a:solidFill>
              </a:rPr>
              <a:t> Beginner Challenge, plus Question Revisits</a:t>
            </a:r>
            <a:br>
              <a:rPr lang="en-US" kern="0" dirty="0">
                <a:solidFill>
                  <a:schemeClr val="tx1"/>
                </a:solidFill>
              </a:rPr>
            </a:br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700AC34-6681-8050-8DA9-6C60A84EC019}"/>
              </a:ext>
            </a:extLst>
          </p:cNvPr>
          <p:cNvSpPr txBox="1">
            <a:spLocks/>
          </p:cNvSpPr>
          <p:nvPr/>
        </p:nvSpPr>
        <p:spPr>
          <a:xfrm>
            <a:off x="568325" y="6858000"/>
            <a:ext cx="9048286" cy="1222512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IBM Plex Sans Medm" panose="020B0503050203000203" pitchFamily="34" charset="0"/>
              </a:rPr>
              <a:t>Natalie</a:t>
            </a:r>
            <a:r>
              <a:rPr lang="en-US" sz="2800" dirty="0">
                <a:effectLst/>
                <a:latin typeface="IBM Plex Sans Medm" panose="020B0503050203000203" pitchFamily="34" charset="0"/>
              </a:rPr>
              <a:t> Hawkins</a:t>
            </a:r>
          </a:p>
          <a:p>
            <a:r>
              <a:rPr lang="en-US" sz="2800" dirty="0" err="1">
                <a:latin typeface="+mj-lt"/>
              </a:rPr>
              <a:t>Qiskit</a:t>
            </a:r>
            <a:r>
              <a:rPr lang="en-US" sz="2800" dirty="0">
                <a:latin typeface="+mj-lt"/>
              </a:rPr>
              <a:t> Advocate, Tier 1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r>
              <a:rPr lang="en-US" sz="2800" dirty="0">
                <a:latin typeface="+mj-lt"/>
              </a:rPr>
              <a:t>Seattle Quantum Computing Meetup, Founder</a:t>
            </a:r>
            <a:br>
              <a:rPr lang="en-US" sz="2800" dirty="0">
                <a:effectLst/>
                <a:latin typeface="+mj-lt"/>
              </a:rPr>
            </a:br>
            <a:endParaRPr lang="en-US" sz="2800" dirty="0">
              <a:effectLst/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55A89-31D3-C769-71AD-38E9ADC2B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5072888" cy="285908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88F6F-C66C-FFF6-F027-434CCBD37F2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0BF8BA-1291-FEB6-2E05-02368647FF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959245" y="544513"/>
            <a:ext cx="2859087" cy="2859087"/>
          </a:xfrm>
          <a:prstGeom prst="rect">
            <a:avLst/>
          </a:prstGeom>
        </p:spPr>
      </p:pic>
      <p:sp>
        <p:nvSpPr>
          <p:cNvPr id="4" name="object 3">
            <a:extLst>
              <a:ext uri="{FF2B5EF4-FFF2-40B4-BE49-F238E27FC236}">
                <a16:creationId xmlns:a16="http://schemas.microsoft.com/office/drawing/2014/main" id="{BE081AA4-08F0-7E8B-DE5F-5CDBCF657F7A}"/>
              </a:ext>
            </a:extLst>
          </p:cNvPr>
          <p:cNvSpPr/>
          <p:nvPr/>
        </p:nvSpPr>
        <p:spPr>
          <a:xfrm>
            <a:off x="6102839" y="595334"/>
            <a:ext cx="0" cy="11390210"/>
          </a:xfrm>
          <a:custGeom>
            <a:avLst/>
            <a:gdLst/>
            <a:ahLst/>
            <a:cxnLst/>
            <a:rect l="l" t="t" r="r" b="b"/>
            <a:pathLst>
              <a:path h="9391650">
                <a:moveTo>
                  <a:pt x="0" y="0"/>
                </a:moveTo>
                <a:lnTo>
                  <a:pt x="0" y="9391127"/>
                </a:lnTo>
              </a:path>
            </a:pathLst>
          </a:custGeom>
          <a:ln w="1047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4366"/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6108A082-8140-6980-ED83-7DBED6EE5B0A}"/>
              </a:ext>
            </a:extLst>
          </p:cNvPr>
          <p:cNvSpPr txBox="1"/>
          <p:nvPr/>
        </p:nvSpPr>
        <p:spPr>
          <a:xfrm>
            <a:off x="6662072" y="542660"/>
            <a:ext cx="8699848" cy="6817866"/>
          </a:xfrm>
          <a:prstGeom prst="rect">
            <a:avLst/>
          </a:prstGeom>
        </p:spPr>
        <p:txBody>
          <a:bodyPr vert="horz" wrap="square" lIns="0" tIns="21564" rIns="0" bIns="0" rtlCol="0">
            <a:spAutoFit/>
          </a:bodyPr>
          <a:lstStyle/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Announcements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Q News – Industry &amp; Academia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Revisit Previous Questions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 err="1">
                <a:latin typeface="+mj-lt"/>
                <a:cs typeface="Calibri"/>
              </a:rPr>
              <a:t>Qiskit</a:t>
            </a:r>
            <a:r>
              <a:rPr lang="en-US" spc="97" dirty="0">
                <a:latin typeface="+mj-lt"/>
                <a:cs typeface="Calibri"/>
              </a:rPr>
              <a:t> Challenge Beginner Notebook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Talk about the next Meetup</a:t>
            </a:r>
          </a:p>
          <a:p>
            <a:pPr marL="15403">
              <a:spcBef>
                <a:spcPts val="170"/>
              </a:spcBef>
            </a:pPr>
            <a:endParaRPr lang="en-US" spc="97" dirty="0">
              <a:latin typeface="+mj-lt"/>
              <a:cs typeface="Calibri"/>
            </a:endParaRPr>
          </a:p>
          <a:p>
            <a:pPr marL="15403">
              <a:spcBef>
                <a:spcPts val="170"/>
              </a:spcBef>
            </a:pPr>
            <a:r>
              <a:rPr lang="en-US" spc="97" dirty="0">
                <a:latin typeface="+mj-lt"/>
                <a:cs typeface="Calibri"/>
              </a:rPr>
              <a:t>Mingle</a:t>
            </a:r>
          </a:p>
          <a:p>
            <a:pPr marL="15403">
              <a:spcBef>
                <a:spcPts val="170"/>
              </a:spcBef>
            </a:pPr>
            <a:endParaRPr sz="2729" dirty="0">
              <a:latin typeface="+mj-lt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481365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2970C-CB50-D2FC-7FC1-D597AED47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132A-4614-71E9-3669-508F6C31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9"/>
            <a:ext cx="11045825" cy="1414272"/>
          </a:xfrm>
        </p:spPr>
        <p:txBody>
          <a:bodyPr/>
          <a:lstStyle/>
          <a:p>
            <a:r>
              <a:rPr lang="en-US" dirty="0"/>
              <a:t>Q News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5F72D9-9CD1-E102-17FE-34162D83797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802A7A-D4CE-0BFE-7D2A-E1DDF5168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D6E928-40E3-F3C7-2C54-54BAD25DDC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Claims</a:t>
            </a:r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>
                <a:solidFill>
                  <a:schemeClr val="accent1"/>
                </a:solidFill>
              </a:rPr>
              <a:t>When and how will quantum computing broadly benefit humanity? </a:t>
            </a:r>
            <a:r>
              <a:rPr lang="en-US" dirty="0"/>
              <a:t>Despite exhilarating recent progress, </a:t>
            </a:r>
            <a:r>
              <a:rPr lang="en-US" b="1" dirty="0">
                <a:solidFill>
                  <a:schemeClr val="accent1"/>
                </a:solidFill>
              </a:rPr>
              <a:t>we still don’t know</a:t>
            </a:r>
            <a:r>
              <a:rPr lang="en-US" dirty="0"/>
              <a:t>. Here my friend Jens Eisert and I assess the current status and the challenges ahead. We are optimistic about the quantum future, but there’s a lot of work to do.” </a:t>
            </a:r>
          </a:p>
          <a:p>
            <a:r>
              <a:rPr lang="en-US" dirty="0"/>
              <a:t>John </a:t>
            </a:r>
            <a:r>
              <a:rPr lang="en-US" dirty="0" err="1"/>
              <a:t>Preskill</a:t>
            </a:r>
            <a:r>
              <a:rPr lang="en-US" dirty="0"/>
              <a:t>, Caltech.</a:t>
            </a:r>
          </a:p>
          <a:p>
            <a:br>
              <a:rPr lang="en-US" dirty="0"/>
            </a:br>
            <a:r>
              <a:rPr lang="en-US" b="1" dirty="0">
                <a:hlinkClick r:id="rId4"/>
              </a:rPr>
              <a:t>https://lnkd.in/gxuzxhj3</a:t>
            </a:r>
            <a:endParaRPr lang="en-US" b="1" dirty="0"/>
          </a:p>
          <a:p>
            <a:r>
              <a:rPr lang="en-US" dirty="0"/>
              <a:t>2510.19928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BCDD9A-EAF7-D5EF-C76E-0B422C976F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What’s Needed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“Gaps that we still have to cross in order to reach broadly useful technology. An important take-away: 𝘁𝗵𝗲 𝗯𝗶𝗴𝗴𝗲𝘀𝘁 𝗴𝗮𝗽 𝗶𝘀 𝗻𝗼𝘁 𝗶𝗻 𝗵𝗮𝗿𝗱𝘄𝗮𝗿𝗲, 𝗯𝘂𝘁 𝗶𝗻 𝗱𝗲𝘃𝗲𝗹𝗼𝗽𝗶𝗻𝗴 𝘁𝗵𝗲 𝗿𝗶𝗴𝗵𝘁 𝗾𝘂𝗮𝗻𝘁𝘂𝗺 𝗮𝗹𝗴𝗼𝗿𝗶𝘁𝗵𝗺𝘀.” </a:t>
            </a:r>
          </a:p>
          <a:p>
            <a:r>
              <a:rPr lang="en-US" dirty="0"/>
              <a:t>Koen </a:t>
            </a:r>
            <a:r>
              <a:rPr lang="en-US" dirty="0" err="1"/>
              <a:t>Groenland</a:t>
            </a:r>
            <a:r>
              <a:rPr lang="en-US" dirty="0"/>
              <a:t>, </a:t>
            </a:r>
            <a:r>
              <a:rPr lang="en-US" dirty="0" err="1"/>
              <a:t>QuSoft</a:t>
            </a:r>
            <a:r>
              <a:rPr lang="en-US" dirty="0"/>
              <a:t>. 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99C819-29BB-06D0-672F-101B25EC5E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75" y="3007910"/>
            <a:ext cx="10398125" cy="6250396"/>
          </a:xfrm>
          <a:prstGeom prst="rect">
            <a:avLst/>
          </a:prstGeom>
        </p:spPr>
      </p:pic>
      <p:pic>
        <p:nvPicPr>
          <p:cNvPr id="10" name="Picture 9" descr="A close up of text&#10;&#10;AI-generated content may be incorrect.">
            <a:extLst>
              <a:ext uri="{FF2B5EF4-FFF2-40B4-BE49-F238E27FC236}">
                <a16:creationId xmlns:a16="http://schemas.microsoft.com/office/drawing/2014/main" id="{248BA953-7F0C-9924-CACE-92D2DA5623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9620" y="8195475"/>
            <a:ext cx="13351010" cy="314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52341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6ED37-18B2-F349-340A-9502A20DA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26391-38B8-6C8B-5F20-B5902990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9"/>
            <a:ext cx="11045825" cy="1414272"/>
          </a:xfrm>
        </p:spPr>
        <p:txBody>
          <a:bodyPr/>
          <a:lstStyle/>
          <a:p>
            <a:r>
              <a:rPr lang="en-US" dirty="0"/>
              <a:t>Q News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56B2BF0-5F8C-249D-BEF8-8B618AEAC1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BBFD9D-7741-1BAD-65BB-CE1D2B53F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01D7ED-7A71-0099-3C8F-6332BB8BEB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Sweet Spot for Q Advantage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1126FC9-89CD-53E9-FC26-29F154AA8C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Error Rates Needed </a:t>
            </a:r>
            <a:endParaRPr lang="en-US" dirty="0"/>
          </a:p>
          <a:p>
            <a:r>
              <a:rPr lang="en-US" dirty="0"/>
              <a:t>Koen </a:t>
            </a:r>
            <a:r>
              <a:rPr lang="en-US" dirty="0" err="1"/>
              <a:t>Groenland</a:t>
            </a:r>
            <a:r>
              <a:rPr lang="en-US" dirty="0"/>
              <a:t>, </a:t>
            </a:r>
            <a:r>
              <a:rPr lang="en-US" dirty="0" err="1"/>
              <a:t>QuSoft</a:t>
            </a:r>
            <a:r>
              <a:rPr lang="en-US" dirty="0"/>
              <a:t>, Amsterdam</a:t>
            </a:r>
          </a:p>
          <a:p>
            <a:endParaRPr lang="en-US" dirty="0"/>
          </a:p>
        </p:txBody>
      </p:sp>
      <p:pic>
        <p:nvPicPr>
          <p:cNvPr id="5" name="Picture 4" descr="A diagram of a diagram of a variety of components&#10;&#10;AI-generated content may be incorrect.">
            <a:extLst>
              <a:ext uri="{FF2B5EF4-FFF2-40B4-BE49-F238E27FC236}">
                <a16:creationId xmlns:a16="http://schemas.microsoft.com/office/drawing/2014/main" id="{8661E7FB-D3D0-424D-6B52-F6A09D50D0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8819" y="3528857"/>
            <a:ext cx="11129703" cy="5526015"/>
          </a:xfrm>
          <a:prstGeom prst="rect">
            <a:avLst/>
          </a:prstGeom>
        </p:spPr>
      </p:pic>
      <p:pic>
        <p:nvPicPr>
          <p:cNvPr id="10" name="Picture 9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F85AE3AF-9DAA-16CB-7E79-E815324D1F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5851" y="3528857"/>
            <a:ext cx="11336973" cy="654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601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1D96C-CA44-DF0C-5E70-C84EDC988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F5176-C805-D4EF-A259-908891D8B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9"/>
            <a:ext cx="11045825" cy="1414272"/>
          </a:xfrm>
        </p:spPr>
        <p:txBody>
          <a:bodyPr/>
          <a:lstStyle/>
          <a:p>
            <a:r>
              <a:rPr lang="en-US" dirty="0"/>
              <a:t>Q News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B94F09-794B-9BE7-83AD-E164B152C0D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9B174F-DE84-B29E-9B16-073C1E8F2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727F8-89DC-338D-2AE8-FF252B38F3A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Qubit Technology Comparison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7BBC62C-EE68-F6FD-419B-2A2ED1119F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Table compiled by </a:t>
            </a:r>
            <a:r>
              <a:rPr lang="en-US" b="1" dirty="0" err="1">
                <a:solidFill>
                  <a:schemeClr val="accent2"/>
                </a:solidFill>
              </a:rPr>
              <a:t>Automatski</a:t>
            </a:r>
            <a:r>
              <a:rPr lang="en-US" b="1" dirty="0">
                <a:solidFill>
                  <a:schemeClr val="accent2"/>
                </a:solidFill>
              </a:rPr>
              <a:t>, India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 descr="A blue and white table with text&#10;&#10;AI-generated content may be incorrect.">
            <a:extLst>
              <a:ext uri="{FF2B5EF4-FFF2-40B4-BE49-F238E27FC236}">
                <a16:creationId xmlns:a16="http://schemas.microsoft.com/office/drawing/2014/main" id="{D887F87A-254C-12E4-DDB6-0458B1068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" y="1531429"/>
            <a:ext cx="17942560" cy="1127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910775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7E72D-2E58-5FA9-35AF-EA3BF67E2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F3C48B13-D468-45C9-5E8D-1CC3FCDBC286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6A4A6-BFA6-4140-B1ED-1F00BB0D2D2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Submissions</a:t>
            </a:r>
            <a:r>
              <a:rPr lang="en-US" dirty="0"/>
              <a:t> </a:t>
            </a:r>
            <a:r>
              <a:rPr lang="en-US" b="1" dirty="0">
                <a:solidFill>
                  <a:schemeClr val="accent2"/>
                </a:solidFill>
              </a:rPr>
              <a:t>Deadline</a:t>
            </a:r>
            <a:r>
              <a:rPr lang="en-US" dirty="0"/>
              <a:t> for earning a Winning Certificate is </a:t>
            </a:r>
            <a:r>
              <a:rPr lang="en-US" b="1" dirty="0">
                <a:solidFill>
                  <a:schemeClr val="accent2"/>
                </a:solidFill>
              </a:rPr>
              <a:t>Extended </a:t>
            </a:r>
            <a:r>
              <a:rPr lang="en-US" dirty="0"/>
              <a:t>to</a:t>
            </a:r>
            <a:r>
              <a:rPr lang="en-US" b="1" dirty="0">
                <a:solidFill>
                  <a:schemeClr val="accent2"/>
                </a:solidFill>
              </a:rPr>
              <a:t> Monday, Nov 24!!!</a:t>
            </a:r>
          </a:p>
          <a:p>
            <a:endParaRPr lang="en-US" b="1" dirty="0"/>
          </a:p>
          <a:p>
            <a:r>
              <a:rPr lang="en-US" dirty="0"/>
              <a:t>The </a:t>
            </a:r>
            <a:r>
              <a:rPr lang="en-US" b="1" dirty="0">
                <a:solidFill>
                  <a:schemeClr val="accent2"/>
                </a:solidFill>
              </a:rPr>
              <a:t>non-coding and Hackathon options can be starts on projects</a:t>
            </a:r>
            <a:r>
              <a:rPr lang="en-US" dirty="0"/>
              <a:t>; they don’t have to be fully worked out.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B527F30-F60A-AA2B-370A-41F9EF0116AE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3EDFC4-C9C9-2112-4D9D-362541F5526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624585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Project Idea: (1-2 </a:t>
            </a:r>
            <a:r>
              <a:rPr lang="en-US" b="1" dirty="0" err="1">
                <a:solidFill>
                  <a:schemeClr val="accent2"/>
                </a:solidFill>
              </a:rPr>
              <a:t>pgs</a:t>
            </a:r>
            <a:r>
              <a:rPr lang="en-US" b="1" dirty="0">
                <a:solidFill>
                  <a:schemeClr val="accent2"/>
                </a:solidFill>
              </a:rPr>
              <a:t> max total)</a:t>
            </a:r>
          </a:p>
          <a:p>
            <a:r>
              <a:rPr lang="en-US" dirty="0"/>
              <a:t>Short answers on questions: 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will QC affect our futures?  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will QC and AI affect our futures? </a:t>
            </a:r>
          </a:p>
          <a:p>
            <a:pPr marL="457200" indent="-457200">
              <a:buFontTx/>
              <a:buChar char="-"/>
            </a:pPr>
            <a:r>
              <a:rPr lang="en-US" dirty="0"/>
              <a:t>What are the pro’s and con’s of each type of qubit?</a:t>
            </a:r>
          </a:p>
          <a:p>
            <a:pPr marL="457200" indent="-457200">
              <a:buFontTx/>
              <a:buChar char="-"/>
            </a:pPr>
            <a:r>
              <a:rPr lang="en-US" dirty="0"/>
              <a:t>How many qubits are required for Shor’s </a:t>
            </a:r>
            <a:r>
              <a:rPr lang="en-US" dirty="0" err="1"/>
              <a:t>alg</a:t>
            </a:r>
            <a:r>
              <a:rPr lang="en-US" dirty="0"/>
              <a:t>? 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79B6307B-3FFE-4197-344B-4318A0921143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8D3721-3096-C555-ADE3-C6C024CF3F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dirty="0"/>
              <a:t>Our </a:t>
            </a:r>
            <a:r>
              <a:rPr lang="en-US" b="1" dirty="0">
                <a:solidFill>
                  <a:schemeClr val="accent2"/>
                </a:solidFill>
              </a:rPr>
              <a:t>last in-person FF25 Meetup</a:t>
            </a:r>
            <a:r>
              <a:rPr lang="en-US" dirty="0"/>
              <a:t> will be next </a:t>
            </a:r>
            <a:r>
              <a:rPr lang="en-US" b="1" dirty="0">
                <a:solidFill>
                  <a:schemeClr val="accent2"/>
                </a:solidFill>
              </a:rPr>
              <a:t>Saturday, Nov 1, 2-4 pm</a:t>
            </a:r>
            <a:r>
              <a:rPr lang="en-US" dirty="0"/>
              <a:t>, at the Montlake Branch of the SPL.  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2"/>
                </a:solidFill>
              </a:rPr>
              <a:t>Topics TBD: </a:t>
            </a:r>
          </a:p>
          <a:p>
            <a:pPr marL="514350" indent="-514350">
              <a:buAutoNum type="arabicParenR"/>
            </a:pPr>
            <a:r>
              <a:rPr lang="en-US" dirty="0"/>
              <a:t>DiVincenzo Intermediate Notebook </a:t>
            </a:r>
          </a:p>
          <a:p>
            <a:pPr marL="514350" indent="-514350">
              <a:buAutoNum type="arabicParenR"/>
            </a:pPr>
            <a:r>
              <a:rPr lang="en-US" dirty="0"/>
              <a:t>Working in QC, Getting a job, Where are the jobs?</a:t>
            </a:r>
          </a:p>
          <a:p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79653C59-D4EB-061B-BEE9-54F43A1A5BD7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0DC560-FF7F-9500-14CC-65574A232BA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Upcoming Summit: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 err="1"/>
              <a:t>TechAlliance</a:t>
            </a:r>
            <a:r>
              <a:rPr lang="en-US" dirty="0"/>
              <a:t> Policy Matters Summit | The Quantum Frontier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https://luma.com/sxwd8icd 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F5069CF-12C8-5065-5D51-A2D4F896DB6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A592C4-BA9E-5690-A307-8B62A68987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74674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34C597DB-997D-8398-0A52-97043F777E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072" y="576073"/>
            <a:ext cx="8628888" cy="1821688"/>
          </a:xfrm>
        </p:spPr>
        <p:txBody>
          <a:bodyPr/>
          <a:lstStyle/>
          <a:p>
            <a:r>
              <a:rPr lang="en-US" sz="6000" dirty="0" err="1">
                <a:solidFill>
                  <a:srgbClr val="8A3FFC"/>
                </a:solidFill>
              </a:rPr>
              <a:t>TechAlliance</a:t>
            </a:r>
            <a:r>
              <a:rPr lang="en-US" sz="6000" dirty="0"/>
              <a:t> Policy Matters Summit | The Quantum Frontier</a:t>
            </a:r>
          </a:p>
        </p:txBody>
      </p:sp>
      <p:sp>
        <p:nvSpPr>
          <p:cNvPr id="25" name="Text Placeholder 1">
            <a:extLst>
              <a:ext uri="{FF2B5EF4-FFF2-40B4-BE49-F238E27FC236}">
                <a16:creationId xmlns:a16="http://schemas.microsoft.com/office/drawing/2014/main" id="{91C1F40D-4BF1-A5B6-5480-FDEEC629127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3"/>
            <a:ext cx="7620000" cy="1648702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Summit Agenda</a:t>
            </a:r>
          </a:p>
          <a:p>
            <a:r>
              <a:rPr lang="en-US" sz="2800" dirty="0"/>
              <a:t>Wed, Nov 19, 2025</a:t>
            </a:r>
          </a:p>
        </p:txBody>
      </p:sp>
      <p:sp>
        <p:nvSpPr>
          <p:cNvPr id="19" name="Footer Placeholder 1">
            <a:extLst>
              <a:ext uri="{FF2B5EF4-FFF2-40B4-BE49-F238E27FC236}">
                <a16:creationId xmlns:a16="http://schemas.microsoft.com/office/drawing/2014/main" id="{E98B0C95-6920-7E0D-AD52-0003F117C35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7826DD-A605-2BF5-4696-71D715990A1E}"/>
              </a:ext>
            </a:extLst>
          </p:cNvPr>
          <p:cNvSpPr txBox="1"/>
          <p:nvPr/>
        </p:nvSpPr>
        <p:spPr>
          <a:xfrm>
            <a:off x="576072" y="3759200"/>
            <a:ext cx="10315448" cy="8890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dirty="0"/>
              <a:t>​​</a:t>
            </a:r>
            <a:r>
              <a:rPr lang="en-US" sz="2800" b="1" dirty="0">
                <a:solidFill>
                  <a:schemeClr val="accent2"/>
                </a:solidFill>
              </a:rPr>
              <a:t>Overview - </a:t>
            </a:r>
          </a:p>
          <a:p>
            <a:endParaRPr lang="en-US" sz="2800" dirty="0"/>
          </a:p>
          <a:p>
            <a:r>
              <a:rPr lang="en-US" sz="2800" dirty="0"/>
              <a:t>Washington has what it takes to lead in quantum top-tier research, major tech players, and a growing innovation ecosystem. What’s missing is a coordinated strategy. The 2025 Policy Matters Summit will bring together policymakers, educators, industry, and startups to launch a shared vision for Washington’s quantum future.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b="1" dirty="0">
                <a:solidFill>
                  <a:schemeClr val="accent2"/>
                </a:solidFill>
              </a:rPr>
              <a:t>Summit Goals -</a:t>
            </a:r>
          </a:p>
          <a:p>
            <a:endParaRPr lang="en-US" sz="2800" dirty="0"/>
          </a:p>
          <a:p>
            <a:r>
              <a:rPr lang="en-US" sz="2800" dirty="0"/>
              <a:t>​Position Washington as a hub for quantum R&amp;D, talent, and commercialization</a:t>
            </a:r>
          </a:p>
          <a:p>
            <a:r>
              <a:rPr lang="en-US" sz="2800" dirty="0"/>
              <a:t>​Spark collaboration and follow-on action statewide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b="1" dirty="0">
                <a:solidFill>
                  <a:schemeClr val="accent2"/>
                </a:solidFill>
              </a:rPr>
              <a:t>Why Now - </a:t>
            </a:r>
          </a:p>
          <a:p>
            <a:endParaRPr lang="en-US" sz="2800" dirty="0"/>
          </a:p>
          <a:p>
            <a:r>
              <a:rPr lang="en-US" sz="2800" dirty="0"/>
              <a:t>States like Texas, Illinois, and Maryland are moving fast - passing laws, building hubs, and attracting funding. Washington has the assets. This Summit is our chance to catch up - and take the lead.</a:t>
            </a:r>
          </a:p>
          <a:p>
            <a:r>
              <a:rPr lang="en-US" dirty="0"/>
              <a:t>​</a:t>
            </a:r>
          </a:p>
          <a:p>
            <a:r>
              <a:rPr lang="en-US" dirty="0"/>
              <a:t>​</a:t>
            </a: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18ED90-E5A3-CDE0-2ED5-0531E2D6935B}"/>
              </a:ext>
            </a:extLst>
          </p:cNvPr>
          <p:cNvSpPr txBox="1"/>
          <p:nvPr/>
        </p:nvSpPr>
        <p:spPr>
          <a:xfrm>
            <a:off x="12763500" y="3667760"/>
            <a:ext cx="9669780" cy="8270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1" name="Picture 10" descr="A symbol of a atom&#10;&#10;AI-generated content may be incorrect.">
            <a:extLst>
              <a:ext uri="{FF2B5EF4-FFF2-40B4-BE49-F238E27FC236}">
                <a16:creationId xmlns:a16="http://schemas.microsoft.com/office/drawing/2014/main" id="{918BD4B4-4032-9729-8477-0129033DE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3280" y="251086"/>
            <a:ext cx="1648701" cy="164870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B420213-9E36-7122-22C8-1CE0C4130ED5}"/>
              </a:ext>
            </a:extLst>
          </p:cNvPr>
          <p:cNvSpPr txBox="1"/>
          <p:nvPr/>
        </p:nvSpPr>
        <p:spPr>
          <a:xfrm>
            <a:off x="12923520" y="4688840"/>
            <a:ext cx="10231120" cy="8493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r>
              <a:rPr lang="en-US" sz="2800" dirty="0"/>
              <a:t>​8:30 Breakfast/Networking</a:t>
            </a:r>
          </a:p>
          <a:p>
            <a:endParaRPr lang="en-US" sz="2800" dirty="0"/>
          </a:p>
          <a:p>
            <a:r>
              <a:rPr lang="en-US" sz="2800" dirty="0"/>
              <a:t>​9:00 Opening remarks by </a:t>
            </a:r>
            <a:r>
              <a:rPr lang="en-US" sz="2800" b="1" dirty="0"/>
              <a:t>Lieutenant Governor Denny Heck</a:t>
            </a:r>
            <a:endParaRPr lang="en-US" sz="2800" dirty="0"/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9:20</a:t>
            </a:r>
            <a:r>
              <a:rPr lang="en-US" sz="2800" b="1" dirty="0">
                <a:solidFill>
                  <a:schemeClr val="accent2"/>
                </a:solidFill>
              </a:rPr>
              <a:t> Quantum Basics </a:t>
            </a:r>
            <a:r>
              <a:rPr lang="en-US" sz="2800" dirty="0"/>
              <a:t>- A beginner-friendly overview of quantum concepts, technologies, and real-world applications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11:00 </a:t>
            </a:r>
            <a:r>
              <a:rPr lang="en-US" sz="2800" b="1" dirty="0">
                <a:solidFill>
                  <a:schemeClr val="accent2"/>
                </a:solidFill>
              </a:rPr>
              <a:t>Q-Day 101</a:t>
            </a:r>
            <a:r>
              <a:rPr lang="en-US" sz="2800" dirty="0">
                <a:solidFill>
                  <a:schemeClr val="accent2"/>
                </a:solidFill>
              </a:rPr>
              <a:t> </a:t>
            </a:r>
            <a:r>
              <a:rPr lang="en-US" sz="2800" dirty="0"/>
              <a:t>- What is Q-Day and why does it matter? Learn how quantum will impact cybersecurity, infrastructure, and the economy.</a:t>
            </a:r>
          </a:p>
          <a:p>
            <a:endParaRPr lang="en-US" sz="2800" dirty="0"/>
          </a:p>
          <a:p>
            <a:r>
              <a:rPr lang="en-US" sz="2800" dirty="0"/>
              <a:t>​12:00 Networking lunch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1:00 </a:t>
            </a:r>
            <a:r>
              <a:rPr lang="en-US" sz="2800" b="1" dirty="0">
                <a:solidFill>
                  <a:schemeClr val="accent2"/>
                </a:solidFill>
              </a:rPr>
              <a:t>The Quantum Landscape </a:t>
            </a:r>
            <a:r>
              <a:rPr lang="en-US" sz="2800" b="1" dirty="0"/>
              <a:t>– </a:t>
            </a:r>
            <a:r>
              <a:rPr lang="en-US" sz="2800" b="1" dirty="0">
                <a:solidFill>
                  <a:schemeClr val="accent2"/>
                </a:solidFill>
              </a:rPr>
              <a:t>National and Global Initiatives</a:t>
            </a:r>
            <a:r>
              <a:rPr lang="en-US" sz="2800" dirty="0">
                <a:solidFill>
                  <a:schemeClr val="accent2"/>
                </a:solidFill>
              </a:rPr>
              <a:t> </a:t>
            </a:r>
            <a:r>
              <a:rPr lang="en-US" sz="2800" dirty="0"/>
              <a:t>- Explore how other states and countries around the world are advancing quantum</a:t>
            </a:r>
          </a:p>
          <a:p>
            <a:endParaRPr lang="en-US" sz="2800" dirty="0"/>
          </a:p>
          <a:p>
            <a:r>
              <a:rPr lang="en-US" sz="2800" dirty="0"/>
              <a:t>​</a:t>
            </a:r>
            <a:r>
              <a:rPr lang="en-US" sz="2800" dirty="0">
                <a:solidFill>
                  <a:schemeClr val="accent2"/>
                </a:solidFill>
              </a:rPr>
              <a:t>2:00 </a:t>
            </a:r>
            <a:r>
              <a:rPr lang="en-US" sz="2800" b="1" dirty="0">
                <a:solidFill>
                  <a:schemeClr val="accent2"/>
                </a:solidFill>
              </a:rPr>
              <a:t>Building a Quantum Ecosystem in WA</a:t>
            </a:r>
            <a:endParaRPr lang="en-US" sz="2800" dirty="0">
              <a:solidFill>
                <a:schemeClr val="accent2"/>
              </a:solidFill>
            </a:endParaRPr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589846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B9E2E-563F-5AA2-52F4-723D95613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9C060A-DB23-7F9C-AD8F-247AC09C5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576072"/>
            <a:ext cx="5144008" cy="2667063"/>
          </a:xfrm>
        </p:spPr>
        <p:txBody>
          <a:bodyPr/>
          <a:lstStyle/>
          <a:p>
            <a:r>
              <a:rPr lang="en-US" b="1" dirty="0">
                <a:solidFill>
                  <a:srgbClr val="8A3FFC"/>
                </a:solidFill>
              </a:rPr>
              <a:t>Others Are Moving Fast </a:t>
            </a:r>
            <a:br>
              <a:rPr lang="en-US" dirty="0"/>
            </a:br>
            <a:br>
              <a:rPr lang="en-US" sz="2800" dirty="0"/>
            </a:br>
            <a:r>
              <a:rPr lang="en-US" sz="2800" dirty="0"/>
              <a:t>- passing laws </a:t>
            </a:r>
            <a:br>
              <a:rPr lang="en-US" sz="2800" dirty="0"/>
            </a:br>
            <a:r>
              <a:rPr lang="en-US" sz="2800" dirty="0"/>
              <a:t>- building hubs</a:t>
            </a:r>
            <a:br>
              <a:rPr lang="en-US" sz="2800" dirty="0"/>
            </a:br>
            <a:r>
              <a:rPr lang="en-US" sz="2800" dirty="0"/>
              <a:t>- attracting funding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C28FEC-8B88-0E7A-2256-C7F9400CC52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7500" y="384048"/>
            <a:ext cx="4951413" cy="2859087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IL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0C11D-30A3-5819-A9D7-0C4E3E35E1F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Chicago Quantum Summit, Nov 3-4</a:t>
            </a:r>
          </a:p>
          <a:p>
            <a:endParaRPr lang="en-US" dirty="0"/>
          </a:p>
          <a:p>
            <a:r>
              <a:rPr lang="en-US" dirty="0"/>
              <a:t>https://chicagoquantum.org/summit2025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9E39B95-55A9-5A84-BDFD-B175F0CC945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MD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097C979-E53D-0A33-992F-7EFC876C9C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763500" y="4381500"/>
            <a:ext cx="11264900" cy="2857500"/>
          </a:xfrm>
        </p:spPr>
        <p:txBody>
          <a:bodyPr/>
          <a:lstStyle/>
          <a:p>
            <a:r>
              <a:rPr lang="en-US" dirty="0"/>
              <a:t>In 2025, </a:t>
            </a:r>
            <a:r>
              <a:rPr lang="en-US" b="1" dirty="0">
                <a:solidFill>
                  <a:schemeClr val="accent2"/>
                </a:solidFill>
              </a:rPr>
              <a:t>Maryland's quantum ecosystem </a:t>
            </a:r>
            <a:r>
              <a:rPr lang="en-US" dirty="0"/>
              <a:t>is experiencing significant growth, fueled by major </a:t>
            </a:r>
            <a:r>
              <a:rPr lang="en-US" b="1" dirty="0">
                <a:solidFill>
                  <a:schemeClr val="accent2"/>
                </a:solidFill>
              </a:rPr>
              <a:t>investments, partnerships </a:t>
            </a:r>
            <a:r>
              <a:rPr lang="en-US" dirty="0"/>
              <a:t>with technology leaders like Microsoft and DARPA, and the continued expansion of homegrown companies such as </a:t>
            </a:r>
            <a:r>
              <a:rPr lang="en-US" dirty="0" err="1"/>
              <a:t>IonQ</a:t>
            </a:r>
            <a:r>
              <a:rPr lang="en-US" dirty="0"/>
              <a:t>. (Google)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10D23C2-8E19-F74A-45D8-B2C465296B81}"/>
              </a:ext>
            </a:extLst>
          </p:cNvPr>
          <p:cNvSpPr txBox="1">
            <a:spLocks/>
          </p:cNvSpPr>
          <p:nvPr/>
        </p:nvSpPr>
        <p:spPr>
          <a:xfrm>
            <a:off x="6667500" y="8369987"/>
            <a:ext cx="5341620" cy="28575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000" b="0" i="0" u="none" strike="noStrike" cap="none" spc="0" baseline="0">
                <a:solidFill>
                  <a:schemeClr val="accent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rgbClr val="8A3FFC"/>
                </a:solidFill>
              </a:rPr>
              <a:t>TX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DFA1390-0AA4-636E-E424-CCA2AF30A5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2763500" y="8572500"/>
            <a:ext cx="11142980" cy="5011420"/>
          </a:xfrm>
        </p:spPr>
        <p:txBody>
          <a:bodyPr/>
          <a:lstStyle/>
          <a:p>
            <a:r>
              <a:rPr lang="en-US" dirty="0"/>
              <a:t>Texas is solidifying its position as a major hub for quantum technology through the recently passed </a:t>
            </a:r>
            <a:r>
              <a:rPr lang="en-US" b="1" dirty="0">
                <a:solidFill>
                  <a:schemeClr val="accent2"/>
                </a:solidFill>
              </a:rPr>
              <a:t>Texas Quantum Initiative</a:t>
            </a:r>
            <a:r>
              <a:rPr lang="en-US" dirty="0"/>
              <a:t>, which aims to boost state investment and coordinate research and development. The effort involves collaborations between academic institutions, industry leaders, and state government. (Google) </a:t>
            </a:r>
            <a:r>
              <a:rPr lang="en-US" sz="2800" dirty="0"/>
              <a:t>(</a:t>
            </a:r>
            <a:r>
              <a:rPr lang="en-US" sz="2800" b="1" dirty="0"/>
              <a:t>Abilene, Texas:</a:t>
            </a:r>
            <a:r>
              <a:rPr lang="en-US" sz="2800" dirty="0"/>
              <a:t> The first and flagship site is a massive AI data center $500B Stargate Project.)</a:t>
            </a:r>
          </a:p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1DCFA8E-D736-A2EC-D755-93AAFF6104D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2" name="Title 2">
            <a:extLst>
              <a:ext uri="{FF2B5EF4-FFF2-40B4-BE49-F238E27FC236}">
                <a16:creationId xmlns:a16="http://schemas.microsoft.com/office/drawing/2014/main" id="{499B46F0-ECB2-4802-E24B-7D8A18E3D6D6}"/>
              </a:ext>
            </a:extLst>
          </p:cNvPr>
          <p:cNvSpPr txBox="1">
            <a:spLocks/>
          </p:cNvSpPr>
          <p:nvPr/>
        </p:nvSpPr>
        <p:spPr>
          <a:xfrm>
            <a:off x="576072" y="6519672"/>
            <a:ext cx="5723128" cy="6200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b="1" kern="0" dirty="0">
                <a:solidFill>
                  <a:srgbClr val="8A3FFC"/>
                </a:solidFill>
              </a:rPr>
              <a:t>Look at IEEE Quantum Week Locations: </a:t>
            </a:r>
          </a:p>
          <a:p>
            <a:endParaRPr lang="en-US" sz="2800" kern="0" dirty="0"/>
          </a:p>
          <a:p>
            <a:pPr marL="457200" indent="-457200">
              <a:buFontTx/>
              <a:buChar char="-"/>
            </a:pPr>
            <a:r>
              <a:rPr lang="en-US" sz="2800" kern="0" dirty="0"/>
              <a:t>2022 Broomfield, CO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2023 Seattle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2024 Montreal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2025 Albuquerque</a:t>
            </a:r>
          </a:p>
          <a:p>
            <a:pPr marL="457200" indent="-457200">
              <a:buFontTx/>
              <a:buChar char="-"/>
            </a:pPr>
            <a:r>
              <a:rPr lang="en-US" sz="2800" kern="0" dirty="0"/>
              <a:t>2026 Toronto</a:t>
            </a:r>
          </a:p>
          <a:p>
            <a:pPr marL="457200" indent="-457200">
              <a:buFontTx/>
              <a:buChar char="-"/>
            </a:pPr>
            <a:endParaRPr lang="en-US" sz="2800" kern="0" dirty="0"/>
          </a:p>
          <a:p>
            <a:r>
              <a:rPr lang="en-US" sz="2800" kern="0" dirty="0">
                <a:solidFill>
                  <a:schemeClr val="accent2"/>
                </a:solidFill>
              </a:rPr>
              <a:t>https://qce.quantum.ieee.org/2025/</a:t>
            </a:r>
          </a:p>
          <a:p>
            <a:endParaRPr lang="en-US" sz="2800" kern="0" dirty="0"/>
          </a:p>
        </p:txBody>
      </p:sp>
    </p:spTree>
    <p:extLst>
      <p:ext uri="{BB962C8B-B14F-4D97-AF65-F5344CB8AC3E}">
        <p14:creationId xmlns:p14="http://schemas.microsoft.com/office/powerpoint/2010/main" val="112907762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6E6CC-5D13-AF45-6E2C-4880E2B20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76DEF-3CD7-3654-3BC1-112FF721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Q-Day?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661990-67AD-2616-06E5-A2A7E06932D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65332" y="4421716"/>
            <a:ext cx="4953000" cy="5753608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5 Misconceptions about Q-Day</a:t>
            </a:r>
          </a:p>
          <a:p>
            <a:r>
              <a:rPr lang="en-US" dirty="0"/>
              <a:t>By Werner Coomans</a:t>
            </a:r>
          </a:p>
          <a:p>
            <a:r>
              <a:rPr lang="en-US" dirty="0"/>
              <a:t>24 May 2025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>
                <a:hlinkClick r:id="rId2"/>
              </a:rPr>
              <a:t>https://www.nokia.com/quantum/5-misconceptions-about-q-day/#:~:text=There%20are%20two%20families%20of,which%20are%20currently%20undergoing%20standardization</a:t>
            </a:r>
            <a:r>
              <a:rPr lang="en-US" dirty="0"/>
              <a:t>.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A38CE07-2675-2D7D-A465-05C6FEECF76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395061-1C6E-F1A7-9627-0BD56039A0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4419316-8D25-9240-043B-59FA914EC6A4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568843" y="1830916"/>
            <a:ext cx="16568118" cy="99488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3480" rIns="0" bIns="12696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The quantum computing meaning of Q-Day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What it 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Q-Day is the day a powerful enough quantum computer can use algorithms like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  <a:hlinkClick r:id="rId5"/>
              </a:rPr>
              <a:t>Shor's algorithm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to crack asymmetric encryption that protects data like online banking, email, and other secure communications.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Why it's a concern: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It would create a "cryptographic apocalypse," where sensitive data could be easily decrypted by attackers, impacting everything from financial transactions to secure messaging.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Current status: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Experts debate the exact timeline, but they agree that organizations need to prepare by transitioning to 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  <a:hlinkClick r:id="rId6"/>
              </a:rPr>
              <a:t>post-quantum cryptography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(PQC) to stay secure.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Preparing for Q-Day: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The race is on to develop and implement new quantum-resistant encryption methods before a powerful quantum computer arrives.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01D35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accent2"/>
                </a:solidFill>
                <a:effectLst/>
                <a:latin typeface="+mj-lt"/>
              </a:rPr>
              <a:t>The historical meaning of Q-Day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What it is: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01D35"/>
                </a:solidFill>
                <a:effectLst/>
                <a:latin typeface="+mj-lt"/>
              </a:rPr>
              <a:t> In 1945, "Q-Day" was the name of the dress rehearsal for the Trinity atomic bomb test, the first detonation of a nuclear weapon.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42044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53FF9-84C5-FE89-226E-DA1330A7B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EAA65-CAF1-8E70-9466-12F60369F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Revisit Previous Questions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D7EEC640-DB22-1222-288C-EE4A4EE4A48B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29E3B-841E-12BC-B949-545152983C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Greek Alphabet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59806C2C-36FE-845B-F725-9D3ED52B1E6B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E3709-A825-DEC2-1914-28BB3B0E55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624585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Data and Quantum Computers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dirty="0"/>
              <a:t>Data Loading Project</a:t>
            </a:r>
          </a:p>
          <a:p>
            <a:pPr marL="457200" indent="-457200">
              <a:buFontTx/>
              <a:buChar char="-"/>
            </a:pPr>
            <a:r>
              <a:rPr lang="en-US" dirty="0"/>
              <a:t>Watch out for Bad Articles, written by AI or humans</a:t>
            </a:r>
          </a:p>
          <a:p>
            <a:pPr marL="457200" indent="-457200">
              <a:buFontTx/>
              <a:buChar char="-"/>
            </a:pPr>
            <a:r>
              <a:rPr lang="en-US" dirty="0"/>
              <a:t>Small Data, Big Solution Space (Medium: J Krupansky)</a:t>
            </a:r>
          </a:p>
          <a:p>
            <a:pPr marL="457200" indent="-457200">
              <a:buFontTx/>
              <a:buChar char="-"/>
            </a:pPr>
            <a:r>
              <a:rPr lang="en-US" dirty="0"/>
              <a:t>Now-</a:t>
            </a:r>
            <a:r>
              <a:rPr lang="en-US" dirty="0" err="1"/>
              <a:t>ish</a:t>
            </a:r>
            <a:r>
              <a:rPr lang="en-US" dirty="0"/>
              <a:t> vs. Later-</a:t>
            </a:r>
            <a:r>
              <a:rPr lang="en-US" dirty="0" err="1"/>
              <a:t>ish</a:t>
            </a:r>
            <a:r>
              <a:rPr lang="en-US" dirty="0"/>
              <a:t> (FTQC, </a:t>
            </a:r>
            <a:r>
              <a:rPr lang="en-US" dirty="0" err="1"/>
              <a:t>qRAM</a:t>
            </a:r>
            <a:r>
              <a:rPr lang="en-US" dirty="0"/>
              <a:t>)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97BEC58A-ACFB-7905-1B35-CD1CB0CE862B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C85353-0B79-90E0-3C7F-BD9B7838D5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AI + Quantum, Quantum + AI 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 err="1"/>
              <a:t>Qiskit</a:t>
            </a:r>
            <a:r>
              <a:rPr lang="en-US" dirty="0"/>
              <a:t> Code Assistant</a:t>
            </a:r>
          </a:p>
          <a:p>
            <a:pPr marL="457200" indent="-457200">
              <a:buFontTx/>
              <a:buChar char="-"/>
            </a:pPr>
            <a:r>
              <a:rPr lang="en-US" dirty="0"/>
              <a:t>AI Software Survey (TensorFlow?)</a:t>
            </a:r>
          </a:p>
          <a:p>
            <a:pPr marL="457200" indent="-457200">
              <a:buFontTx/>
              <a:buChar char="-"/>
            </a:pPr>
            <a:r>
              <a:rPr lang="en-US" dirty="0"/>
              <a:t>Quantum Software Survey (TensorFlow Quantum?)</a:t>
            </a:r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D39143F9-9D22-4FFE-7FEB-846D8767F6FE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F64ADF-2B97-69B3-05B3-4C70A1995F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651509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Computer Chips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pPr marL="457200" indent="-457200">
              <a:buFontTx/>
              <a:buChar char="-"/>
            </a:pPr>
            <a:r>
              <a:rPr lang="en-US" dirty="0"/>
              <a:t>How SC qubits work, </a:t>
            </a:r>
          </a:p>
          <a:p>
            <a:r>
              <a:rPr lang="en-US" dirty="0"/>
              <a:t>     </a:t>
            </a:r>
            <a:r>
              <a:rPr lang="en-US" dirty="0" err="1"/>
              <a:t>Qiskit</a:t>
            </a:r>
            <a:r>
              <a:rPr lang="en-US" dirty="0"/>
              <a:t> Channel, Zlatko’s talk,     </a:t>
            </a:r>
          </a:p>
          <a:p>
            <a:r>
              <a:rPr lang="en-US" dirty="0"/>
              <a:t>     Parts 1 and 2, </a:t>
            </a:r>
          </a:p>
          <a:p>
            <a:r>
              <a:rPr lang="en-US" dirty="0"/>
              <a:t>     Lectures 16-21, (~6 </a:t>
            </a:r>
            <a:r>
              <a:rPr lang="en-US" dirty="0" err="1"/>
              <a:t>hrs</a:t>
            </a:r>
            <a:r>
              <a:rPr lang="en-US" dirty="0"/>
              <a:t>)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How QPUs and CPUs are made 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BAE6F33-C175-5EF2-42E5-8386FD36E87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B39F395-8B85-7448-124C-9811CE740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02935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052BC-A31A-3AFD-FA62-5B081B61C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Greek Alphabet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61F429-A819-1589-FBA7-B0AB71D7DF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Phi </a:t>
            </a:r>
            <a:r>
              <a:rPr lang="en-US" dirty="0"/>
              <a:t>and</a:t>
            </a:r>
            <a:r>
              <a:rPr lang="en-US" b="1" dirty="0">
                <a:solidFill>
                  <a:schemeClr val="accent2"/>
                </a:solidFill>
              </a:rPr>
              <a:t> Psi </a:t>
            </a:r>
            <a:r>
              <a:rPr lang="en-US" dirty="0"/>
              <a:t>are used a lot, also Alpha, Beta, Pi, and Theta, and, well, the others too!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https://en.wikipedia.org/wiki/Greek_alphabet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0F604-0481-AD77-9049-C690DC1A443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7" name="Picture Placeholder 10" descr="Place imagery here">
            <a:extLst>
              <a:ext uri="{FF2B5EF4-FFF2-40B4-BE49-F238E27FC236}">
                <a16:creationId xmlns:a16="http://schemas.microsoft.com/office/drawing/2014/main" id="{77A7CC8A-F8D4-01B6-C299-15983476AE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2763500" y="569913"/>
            <a:ext cx="11049000" cy="12574587"/>
          </a:xfrm>
          <a:solidFill>
            <a:schemeClr val="bg1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B75C6E-9935-614F-FDDF-F1F6697CD61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07671-4424-C753-1DC8-469EFBE6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82597" y="11237101"/>
            <a:ext cx="1892302" cy="1892302"/>
          </a:xfrm>
          <a:prstGeom prst="rect">
            <a:avLst/>
          </a:prstGeom>
        </p:spPr>
      </p:pic>
      <p:pic>
        <p:nvPicPr>
          <p:cNvPr id="9" name="Picture 8" descr="A close-up of a chart&#10;&#10;AI-generated content may be incorrect.">
            <a:extLst>
              <a:ext uri="{FF2B5EF4-FFF2-40B4-BE49-F238E27FC236}">
                <a16:creationId xmlns:a16="http://schemas.microsoft.com/office/drawing/2014/main" id="{DFACAEC0-9B77-5E93-D60C-ABC3DE988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9850" y="821425"/>
            <a:ext cx="11058334" cy="12071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23939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66EAA-4307-E39C-32C9-16E7F6DEB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F1CC963-BA9B-5D98-5EFE-46B9D4509B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Software Development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81CE3A-9122-2A26-15BF-69912DDCB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/>
              <a:t>AI and Quantum Computers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293E34D8-F756-3A25-2F68-A47EB8E2ACF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841D25-7EE9-8F35-7A51-EF0F802866C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 err="1">
                <a:solidFill>
                  <a:srgbClr val="8A3FFC"/>
                </a:solidFill>
              </a:rPr>
              <a:t>Qiskit</a:t>
            </a:r>
            <a:r>
              <a:rPr lang="en-US" dirty="0">
                <a:solidFill>
                  <a:srgbClr val="8A3FFC"/>
                </a:solidFill>
              </a:rPr>
              <a:t> Code Assistant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IBM Quantum has one</a:t>
            </a:r>
          </a:p>
          <a:p>
            <a:pPr marL="457200" indent="-457200">
              <a:buFontTx/>
              <a:buChar char="-"/>
            </a:pPr>
            <a:r>
              <a:rPr lang="en-US" dirty="0"/>
              <a:t>Available via a Premium Plan</a:t>
            </a:r>
          </a:p>
          <a:p>
            <a:pPr marL="457200" indent="-457200">
              <a:buFontTx/>
              <a:buChar char="-"/>
            </a:pPr>
            <a:r>
              <a:rPr lang="en-US" dirty="0"/>
              <a:t>Designed to create </a:t>
            </a:r>
            <a:r>
              <a:rPr lang="en-US" dirty="0" err="1"/>
              <a:t>Qiskit</a:t>
            </a:r>
            <a:r>
              <a:rPr lang="en-US" dirty="0"/>
              <a:t> 2 code</a:t>
            </a:r>
          </a:p>
          <a:p>
            <a:pPr marL="457200" indent="-457200">
              <a:buFontTx/>
              <a:buChar char="-"/>
            </a:pPr>
            <a:r>
              <a:rPr lang="en-US" dirty="0"/>
              <a:t>https://quantum.cloud.ibm.com/docs/en/guides/qiskit-code-assistant</a:t>
            </a: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BC628E82-73DC-D874-316F-EF53FC92206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20CC36-4760-4097-72F9-C8AC9926C4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AI Software Survey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O’Reilly Tech Trends Report (from Jan 6 ‘25: based on ‘24, ‘23)</a:t>
            </a:r>
          </a:p>
          <a:p>
            <a:pPr marL="457200" indent="-457200">
              <a:buFontTx/>
              <a:buChar char="-"/>
            </a:pPr>
            <a:r>
              <a:rPr lang="en-US" dirty="0"/>
              <a:t>Look for TensorFlow 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https://www.oreilly.com/pub/pr/3465</a:t>
            </a:r>
          </a:p>
          <a:p>
            <a:endParaRPr lang="en-US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273380DE-F433-958C-6706-072ACA2E1C6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3B2DAA9-CBE9-FB81-2F5D-B7601029E55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6667499"/>
            <a:ext cx="4953000" cy="5981699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Quantum Open-Source Software Survey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See the Unitary Foundation’s annual survey </a:t>
            </a:r>
          </a:p>
          <a:p>
            <a:endParaRPr lang="en-US" b="1" dirty="0"/>
          </a:p>
          <a:p>
            <a:r>
              <a:rPr lang="en-US" b="1" dirty="0"/>
              <a:t>https://unitaryfoundation.github.io/survey-2024/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Look for TensorFlow Quantum in the results</a:t>
            </a:r>
          </a:p>
          <a:p>
            <a:pPr marL="457200" indent="-457200">
              <a:buFontTx/>
              <a:buChar char="-"/>
            </a:pPr>
            <a:r>
              <a:rPr lang="en-US" dirty="0"/>
              <a:t>Look for CUDA-Q</a:t>
            </a:r>
          </a:p>
          <a:p>
            <a:pPr marL="457200" indent="-457200">
              <a:buFontTx/>
              <a:buChar char="-"/>
            </a:pP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CD3D3-5184-CAB7-B8A5-7659AA0E5E3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859500" y="6667499"/>
            <a:ext cx="5280660" cy="6478587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AI + Q, Q + AI</a:t>
            </a:r>
          </a:p>
          <a:p>
            <a:r>
              <a:rPr lang="en-US" dirty="0">
                <a:solidFill>
                  <a:srgbClr val="8A3FFC"/>
                </a:solidFill>
              </a:rPr>
              <a:t> </a:t>
            </a: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AI helping Quantum</a:t>
            </a:r>
          </a:p>
          <a:p>
            <a:pPr marL="457200" indent="-457200">
              <a:buFontTx/>
              <a:buChar char="-"/>
            </a:pPr>
            <a:r>
              <a:rPr lang="en-US" dirty="0"/>
              <a:t>Quantum helping AI</a:t>
            </a:r>
          </a:p>
          <a:p>
            <a:pPr marL="457200" indent="-457200">
              <a:buFontTx/>
              <a:buChar char="-"/>
            </a:pPr>
            <a:r>
              <a:rPr lang="en-US" dirty="0"/>
              <a:t>Conference Q+AI</a:t>
            </a:r>
          </a:p>
          <a:p>
            <a:pPr marL="457200" indent="-457200">
              <a:buFontTx/>
              <a:buChar char="-"/>
            </a:pPr>
            <a:r>
              <a:rPr lang="en-US" dirty="0"/>
              <a:t>Company: e.g. Sandbox AQ</a:t>
            </a:r>
          </a:p>
          <a:p>
            <a:pPr marL="457200" indent="-457200">
              <a:buFontTx/>
              <a:buChar char="-"/>
            </a:pPr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IEEE Quantum Week 2025, </a:t>
            </a:r>
            <a:r>
              <a:rPr lang="en-US" i="1" dirty="0"/>
              <a:t>can still register for on-demand content (~$200) </a:t>
            </a:r>
          </a:p>
          <a:p>
            <a:endParaRPr lang="en-US" dirty="0"/>
          </a:p>
          <a:p>
            <a:pPr marL="457200" indent="-457200">
              <a:buFontTx/>
              <a:buChar char="-"/>
            </a:pPr>
            <a:r>
              <a:rPr lang="en-US" dirty="0"/>
              <a:t>https://web.cvent.com/event/3f8c3754-761c-4db5-a3f5-20003fcc785c/summary</a:t>
            </a:r>
          </a:p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085E42-FF5D-D2A4-81C1-C83A6A419B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FCBCCB-5166-EF19-E01D-6149687A197F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63766459-86B1-A0B0-8A95-BAC810E734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4675" y="10109200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914756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55013-B54C-638C-D21F-D31F12A3A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BCAB4-8FB7-C188-7D4D-7F0CA44D4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Tool Trends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43F3FF-7219-CA51-6904-993C1B1AC79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1427D0C-8AD4-3A99-AE06-B0A0638E26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2739A-8E84-DDE0-1498-A1EC4250F4F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Technology Trends for 2025</a:t>
            </a:r>
          </a:p>
          <a:p>
            <a:r>
              <a:rPr lang="en-US" b="1" dirty="0">
                <a:solidFill>
                  <a:schemeClr val="accent2"/>
                </a:solidFill>
              </a:rPr>
              <a:t>Report by O’Reilly, Jan 6 2025</a:t>
            </a:r>
          </a:p>
          <a:p>
            <a:endParaRPr lang="en-US" dirty="0"/>
          </a:p>
          <a:p>
            <a:r>
              <a:rPr lang="en-US" dirty="0">
                <a:hlinkClick r:id="rId4"/>
              </a:rPr>
              <a:t>https://www.niso.org/niso-io/2025/01/oreilly-offers-insights-tech-trends-2025#:~:text=Usage%20of%20material%20about%20Software,a%20bearing%20on%20software%20architecture.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 descr="A graph of blue and white text&#10;&#10;AI-generated content may be incorrect.">
            <a:extLst>
              <a:ext uri="{FF2B5EF4-FFF2-40B4-BE49-F238E27FC236}">
                <a16:creationId xmlns:a16="http://schemas.microsoft.com/office/drawing/2014/main" id="{2DDE8C15-B9F0-7731-5FF1-03D4D912B0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080" y="2233660"/>
            <a:ext cx="7568361" cy="9773999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9C6CACC-3501-001B-F359-FF6B0988AB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How to Choose Between TensorFlow vs </a:t>
            </a:r>
            <a:r>
              <a:rPr lang="en-US" b="1" dirty="0" err="1">
                <a:solidFill>
                  <a:schemeClr val="accent2"/>
                </a:solidFill>
              </a:rPr>
              <a:t>PyTorch</a:t>
            </a:r>
            <a:r>
              <a:rPr lang="en-US" b="1" dirty="0">
                <a:solidFill>
                  <a:schemeClr val="accent2"/>
                </a:solidFill>
              </a:rPr>
              <a:t> in 2025</a:t>
            </a:r>
          </a:p>
          <a:p>
            <a:endParaRPr lang="en-US" b="1" dirty="0"/>
          </a:p>
          <a:p>
            <a:endParaRPr lang="en-US" dirty="0"/>
          </a:p>
          <a:p>
            <a:r>
              <a:rPr lang="en-US" dirty="0"/>
              <a:t>“</a:t>
            </a:r>
            <a:r>
              <a:rPr lang="en-US" b="1" dirty="0" err="1"/>
              <a:t>PyTorch</a:t>
            </a:r>
            <a:r>
              <a:rPr lang="en-US" b="1" dirty="0"/>
              <a:t> is</a:t>
            </a:r>
            <a:r>
              <a:rPr lang="en-US" dirty="0"/>
              <a:t> easier to </a:t>
            </a:r>
            <a:r>
              <a:rPr lang="en-US" b="1" dirty="0"/>
              <a:t>use</a:t>
            </a:r>
            <a:r>
              <a:rPr lang="en-US" dirty="0"/>
              <a:t> and better for research, while </a:t>
            </a:r>
            <a:r>
              <a:rPr lang="en-US" b="1" dirty="0"/>
              <a:t>TensorFlow is</a:t>
            </a:r>
            <a:r>
              <a:rPr lang="en-US" dirty="0"/>
              <a:t> better for production and scalability.”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hlinkClick r:id="rId6"/>
              </a:rPr>
              <a:t>http://youtube.com/watch?v=yOGi4vmtNaY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3" name="Picture 12" descr="A graph of numbers and letters&#10;&#10;AI-generated content may be incorrect.">
            <a:extLst>
              <a:ext uri="{FF2B5EF4-FFF2-40B4-BE49-F238E27FC236}">
                <a16:creationId xmlns:a16="http://schemas.microsoft.com/office/drawing/2014/main" id="{11451CD4-6197-081D-14A7-AA0CB959C6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42881" y="2233660"/>
            <a:ext cx="4941648" cy="5276088"/>
          </a:xfrm>
          <a:prstGeom prst="rect">
            <a:avLst/>
          </a:prstGeom>
        </p:spPr>
      </p:pic>
      <p:pic>
        <p:nvPicPr>
          <p:cNvPr id="15" name="Picture 14" descr="A graph of data being used&#10;&#10;AI-generated content may be incorrect.">
            <a:extLst>
              <a:ext uri="{FF2B5EF4-FFF2-40B4-BE49-F238E27FC236}">
                <a16:creationId xmlns:a16="http://schemas.microsoft.com/office/drawing/2014/main" id="{61532FB7-6B81-B3FC-8E90-6FBD0F6B138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2881" y="8159874"/>
            <a:ext cx="4971707" cy="4135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5917334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D90AB-2B5C-4672-BA80-0AF0DD821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2B1A-4679-96B1-17D2-3F48836C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1" dirty="0"/>
              <a:t>Panorama of the Open-Source Large Model Ecosystem 2.0</a:t>
            </a:r>
            <a:endParaRPr lang="en-US" b="1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4EF75C8-4040-2F21-0DD1-FA28926F6A2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C652C6-C165-534A-2E03-45D3CC6248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C6748B-6974-2900-A93B-2F53BF8718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b="1" dirty="0">
                <a:solidFill>
                  <a:srgbClr val="8A3FFC"/>
                </a:solidFill>
              </a:rPr>
              <a:t>In Ant Group’s newly released </a:t>
            </a:r>
            <a:r>
              <a:rPr lang="en-US" b="1" i="1" dirty="0">
                <a:solidFill>
                  <a:srgbClr val="8A3FFC"/>
                </a:solidFill>
              </a:rPr>
              <a:t>Panorama of the Open-Source Large Model Ecosystem 2.0</a:t>
            </a:r>
            <a:r>
              <a:rPr lang="en-US" b="1" dirty="0">
                <a:solidFill>
                  <a:srgbClr val="8A3FFC"/>
                </a:solidFill>
              </a:rPr>
              <a:t>, TensorFlow has been officially removed.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sz="2000" dirty="0"/>
              <a:t>Medium article, </a:t>
            </a:r>
            <a:r>
              <a:rPr lang="en-US" sz="2000" i="1" dirty="0"/>
              <a:t>TensorFlow Is Dead. </a:t>
            </a:r>
            <a:r>
              <a:rPr lang="en-US" sz="2000" i="1" dirty="0" err="1"/>
              <a:t>PyTorch</a:t>
            </a:r>
            <a:r>
              <a:rPr lang="en-US" sz="2000" i="1" dirty="0"/>
              <a:t> Won., </a:t>
            </a:r>
            <a:r>
              <a:rPr lang="en-US" sz="2000" dirty="0">
                <a:hlinkClick r:id="rId4"/>
              </a:rPr>
              <a:t>Pan </a:t>
            </a:r>
            <a:r>
              <a:rPr lang="en-US" sz="2000" dirty="0" err="1">
                <a:hlinkClick r:id="rId4"/>
              </a:rPr>
              <a:t>Xinghan</a:t>
            </a:r>
            <a:r>
              <a:rPr lang="en-US" sz="2000" dirty="0"/>
              <a:t>, Sep 15, 2025</a:t>
            </a:r>
            <a:endParaRPr lang="en-US" sz="2000" b="1" i="1" dirty="0"/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55CDF1-B05F-A6A0-C49A-4C978D3E51B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b="1" dirty="0">
                <a:solidFill>
                  <a:srgbClr val="8A3FFC"/>
                </a:solidFill>
              </a:rPr>
              <a:t>How Industry: Cracks in TensorFlow’s Fortress</a:t>
            </a:r>
          </a:p>
          <a:p>
            <a:endParaRPr lang="en-US" b="1" dirty="0">
              <a:solidFill>
                <a:srgbClr val="8A3FFC"/>
              </a:solidFill>
            </a:endParaRPr>
          </a:p>
          <a:p>
            <a:r>
              <a:rPr lang="en-US" sz="2000" dirty="0"/>
              <a:t>“In industry, TensorFlow still hangs on, thanks to its early enterprise adoption. Big companies with legacy models — think Google Translate, some cloud pipelines, some banks — still run it. But the cool kids aren’t choosing it anymore.</a:t>
            </a:r>
          </a:p>
          <a:p>
            <a:endParaRPr lang="en-US" sz="2000" dirty="0"/>
          </a:p>
          <a:p>
            <a:r>
              <a:rPr lang="en-US" sz="2000" dirty="0"/>
              <a:t>OpenAI trained GPT-3 and DALL·E on </a:t>
            </a:r>
            <a:r>
              <a:rPr lang="en-US" sz="2000" dirty="0" err="1"/>
              <a:t>PyTorch</a:t>
            </a:r>
            <a:r>
              <a:rPr lang="en-US" sz="2000" dirty="0"/>
              <a:t>. Tesla’s Autopilot runs on </a:t>
            </a:r>
            <a:r>
              <a:rPr lang="en-US" sz="2000" dirty="0" err="1"/>
              <a:t>PyTorch</a:t>
            </a:r>
            <a:r>
              <a:rPr lang="en-US" sz="2000" dirty="0"/>
              <a:t>. Meta, Microsoft, and Amazon have rallied behind it. NVIDIA and Intel are optimizing </a:t>
            </a:r>
            <a:r>
              <a:rPr lang="en-US" sz="2000" dirty="0" err="1"/>
              <a:t>PyTorch</a:t>
            </a:r>
            <a:r>
              <a:rPr lang="en-US" sz="2000" dirty="0"/>
              <a:t> first. Even Google Cloud now openly supports </a:t>
            </a:r>
            <a:r>
              <a:rPr lang="en-US" sz="2000" dirty="0" err="1"/>
              <a:t>PyTorch</a:t>
            </a:r>
            <a:r>
              <a:rPr lang="en-US" sz="2000" dirty="0"/>
              <a:t> and quietly shifts research toward JAX instead of TensorFlow.</a:t>
            </a:r>
          </a:p>
          <a:p>
            <a:endParaRPr lang="en-US" sz="2000" dirty="0"/>
          </a:p>
          <a:p>
            <a:r>
              <a:rPr lang="en-US" sz="2000" dirty="0"/>
              <a:t>Yes, TensorFlow has stars on GitHub. But stars don’t equal momentum. Forks, contributors, and new repos overwhelmingly lean </a:t>
            </a:r>
            <a:r>
              <a:rPr lang="en-US" sz="2000" dirty="0" err="1"/>
              <a:t>PyTorch</a:t>
            </a:r>
            <a:r>
              <a:rPr lang="en-US" sz="2000" dirty="0"/>
              <a:t>. The trend lines are clear: TensorFlow is legacy, </a:t>
            </a:r>
            <a:r>
              <a:rPr lang="en-US" sz="2000" dirty="0" err="1"/>
              <a:t>PyTorch</a:t>
            </a:r>
            <a:r>
              <a:rPr lang="en-US" sz="2000" dirty="0"/>
              <a:t> is future.”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E1A14B-A647-A496-4F32-0537AFF996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201" y="4834388"/>
            <a:ext cx="13987638" cy="7805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59805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D7986-D215-7FBB-755D-C411EAA59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E6BFB90E-07AE-427B-107E-AC929DD19F62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AFCAEC-1B40-C507-5946-45BB693055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379200" y="7408926"/>
            <a:ext cx="7196137" cy="612648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8A3FFC"/>
                </a:solidFill>
              </a:rPr>
              <a:t>           Little Data with Big Solution Space</a:t>
            </a:r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2EE086-8679-5673-369B-7F2967A184A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2763500" y="3429000"/>
            <a:ext cx="4953000" cy="3638919"/>
          </a:xfrm>
        </p:spPr>
        <p:txBody>
          <a:bodyPr/>
          <a:lstStyle/>
          <a:p>
            <a:r>
              <a:rPr lang="en-US" dirty="0"/>
              <a:t>Phys. Rev. Lett. </a:t>
            </a:r>
            <a:r>
              <a:rPr lang="en-US" b="1" dirty="0"/>
              <a:t>129</a:t>
            </a:r>
            <a:r>
              <a:rPr lang="en-US" dirty="0"/>
              <a:t>, 230504 – </a:t>
            </a:r>
            <a:r>
              <a:rPr lang="en-US" b="1" dirty="0"/>
              <a:t>Published 30 November, 2022</a:t>
            </a:r>
            <a:endParaRPr lang="en-US" dirty="0"/>
          </a:p>
          <a:p>
            <a:endParaRPr lang="en-US" dirty="0"/>
          </a:p>
          <a:p>
            <a:r>
              <a:rPr lang="en-US" dirty="0"/>
              <a:t>“Quantum state preparation is an important subroutine for quantum computing. We show that any</a:t>
            </a:r>
            <a:r>
              <a:rPr lang="en-US" dirty="0">
                <a:solidFill>
                  <a:schemeClr val="accent2"/>
                </a:solidFill>
              </a:rPr>
              <a:t> 𝑛-qubit quantum state can be prepared with a Θ⁡(𝑛)-depth circuit using only single- and two-qubit gates, although with a cost of an exponential amount of ancillary qubits</a:t>
            </a:r>
            <a:r>
              <a:rPr lang="en-US" dirty="0"/>
              <a:t>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8A3FFC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533CA1A1-5049-C5F4-F47E-3ABB9731B388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9E773-3B04-7F79-BEDD-A5A2EB447AA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500" y="576072"/>
            <a:ext cx="4959350" cy="2126488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Quantum Resource Estimation for Data Loading or State Preparation in Quantum Computers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017674-E6C0-1F28-92BA-60B079C2A60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Google AI Overview</a:t>
            </a:r>
          </a:p>
          <a:p>
            <a:endParaRPr lang="en-US" dirty="0"/>
          </a:p>
          <a:p>
            <a:r>
              <a:rPr lang="en-US" dirty="0"/>
              <a:t>“Resource estimation for data loading and state preparation is a critical aspect of analyzing the overall cost of a quantum algorithm. </a:t>
            </a:r>
            <a:r>
              <a:rPr lang="en-US" dirty="0">
                <a:solidFill>
                  <a:schemeClr val="accent2"/>
                </a:solidFill>
              </a:rPr>
              <a:t>The resources required often scale exponentially with the number of qubits for preparing a generic quantum state.</a:t>
            </a:r>
            <a:r>
              <a:rPr lang="en-US" dirty="0"/>
              <a:t> However, tailored approaches can offer substantial reductions in circuit depth and qubit requirements for specific problems. </a:t>
            </a:r>
          </a:p>
          <a:p>
            <a:endParaRPr lang="en-US" dirty="0"/>
          </a:p>
          <a:p>
            <a:r>
              <a:rPr lang="en-US" dirty="0"/>
              <a:t>Key resource metrics include the number of qubits, quantum gates, and execution time. This process is particularly challenging because it involves translating classical data into a quantum format. </a:t>
            </a:r>
          </a:p>
          <a:p>
            <a:endParaRPr lang="en-US" dirty="0"/>
          </a:p>
          <a:p>
            <a:r>
              <a:rPr lang="en-US" b="1" dirty="0"/>
              <a:t>Encoded classical data:</a:t>
            </a:r>
            <a:r>
              <a:rPr lang="en-US" dirty="0"/>
              <a:t> In quantum machine learning (QML) and other data-driven algorithms, classical data must be loaded into a quantum state. </a:t>
            </a:r>
            <a:r>
              <a:rPr lang="en-US" dirty="0">
                <a:solidFill>
                  <a:schemeClr val="accent2"/>
                </a:solidFill>
              </a:rPr>
              <a:t>The efficiency of this process is a major bottleneck</a:t>
            </a:r>
            <a:r>
              <a:rPr lang="en-US" dirty="0"/>
              <a:t>.” 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2F60120-09D6-0897-496B-C6CC371D08D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17B0C2-47D1-6219-4698-67B2672DA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7850" y="10106213"/>
            <a:ext cx="1892302" cy="189230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CBE0374A-1781-A6F4-3DA8-28CFEA1E6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278937"/>
            <a:ext cx="11039476" cy="2440432"/>
          </a:xfrm>
        </p:spPr>
        <p:txBody>
          <a:bodyPr/>
          <a:lstStyle/>
          <a:p>
            <a:r>
              <a:rPr lang="en-US" dirty="0"/>
              <a:t>Data and Quantum Computers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0882E0FE-0A42-0ADD-875E-F7D914DF580E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4956175" cy="448056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800" kern="0" dirty="0"/>
              <a:t>Quantum Applications</a:t>
            </a:r>
          </a:p>
        </p:txBody>
      </p:sp>
      <p:pic>
        <p:nvPicPr>
          <p:cNvPr id="18" name="Picture 17" descr="A diagram of a diagram&#10;&#10;AI-generated content may be incorrect.">
            <a:extLst>
              <a:ext uri="{FF2B5EF4-FFF2-40B4-BE49-F238E27FC236}">
                <a16:creationId xmlns:a16="http://schemas.microsoft.com/office/drawing/2014/main" id="{1895EB0E-3473-4E20-2DAB-C1D53242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48778"/>
            <a:ext cx="9084212" cy="43738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A38AFCD-85AF-2C81-14E2-8CA050EEC08A}"/>
              </a:ext>
            </a:extLst>
          </p:cNvPr>
          <p:cNvSpPr txBox="1"/>
          <p:nvPr/>
        </p:nvSpPr>
        <p:spPr>
          <a:xfrm>
            <a:off x="577850" y="8785242"/>
            <a:ext cx="7406636" cy="6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0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Blue Qubit, 2311.12929 https://www.bluequbit.io/quantum-data-loading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A97AE9C8-4306-7307-CCC3-12D72DBB9741}"/>
              </a:ext>
            </a:extLst>
          </p:cNvPr>
          <p:cNvSpPr txBox="1">
            <a:spLocks/>
          </p:cNvSpPr>
          <p:nvPr/>
        </p:nvSpPr>
        <p:spPr>
          <a:xfrm>
            <a:off x="12915900" y="728473"/>
            <a:ext cx="4953000" cy="612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256032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512064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768096" marR="0" indent="-256032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rgbClr val="8A3FFC"/>
                </a:solidFill>
              </a:rPr>
              <a:t>Quantum State Preparation</a:t>
            </a:r>
          </a:p>
          <a:p>
            <a:endParaRPr lang="en-US" kern="0" dirty="0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EB883DB6-A9C9-8C34-729B-145A5E45D865}"/>
              </a:ext>
            </a:extLst>
          </p:cNvPr>
          <p:cNvSpPr txBox="1">
            <a:spLocks/>
          </p:cNvSpPr>
          <p:nvPr/>
        </p:nvSpPr>
        <p:spPr>
          <a:xfrm>
            <a:off x="12763500" y="8180134"/>
            <a:ext cx="4953000" cy="4955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1pPr>
            <a:lvl2pPr marL="182880" marR="0" indent="-18288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2pPr>
            <a:lvl3pPr marL="365760" marR="0" indent="-18288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3pPr>
            <a:lvl4pPr marL="548640" marR="0" indent="-18288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2000" b="0" i="0" u="none" strike="noStrike" cap="none" spc="0" baseline="0">
                <a:solidFill>
                  <a:schemeClr val="tx1"/>
                </a:solidFill>
                <a:uFillTx/>
                <a:latin typeface="IBM Plex Sans" panose="020B0503050203000203" pitchFamily="34" charset="0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dirty="0"/>
              <a:t>“No, quantum computers are not appropriate for </a:t>
            </a:r>
            <a:r>
              <a:rPr lang="en-US" i="1" dirty="0"/>
              <a:t>big data</a:t>
            </a:r>
            <a:r>
              <a:rPr lang="en-US" dirty="0"/>
              <a:t> problems. Rather, they are best for problems with a fairly small amount of data which has a very large solution space — so called </a:t>
            </a:r>
            <a:r>
              <a:rPr lang="en-US" i="1" dirty="0"/>
              <a:t>combinatorial explosions</a:t>
            </a:r>
            <a:r>
              <a:rPr lang="en-US" dirty="0"/>
              <a:t>. So, rather than call it </a:t>
            </a:r>
            <a:r>
              <a:rPr lang="en-US" i="1" dirty="0"/>
              <a:t>Big Data</a:t>
            </a:r>
            <a:r>
              <a:rPr lang="en-US" dirty="0"/>
              <a:t>, I call it </a:t>
            </a:r>
            <a:r>
              <a:rPr lang="en-US" i="1" dirty="0"/>
              <a:t>Little Data</a:t>
            </a:r>
            <a:r>
              <a:rPr lang="en-US" dirty="0"/>
              <a:t> with a </a:t>
            </a:r>
            <a:r>
              <a:rPr lang="en-US" i="1" dirty="0"/>
              <a:t>Big Solution Space</a:t>
            </a:r>
            <a:r>
              <a:rPr lang="en-US" dirty="0"/>
              <a:t>. This informal paper introduces the notions of </a:t>
            </a:r>
            <a:r>
              <a:rPr lang="en-US" i="1" dirty="0"/>
              <a:t>Little Data with a Big Solution Space</a:t>
            </a:r>
            <a:r>
              <a:rPr lang="en-US" dirty="0"/>
              <a:t>.”</a:t>
            </a:r>
          </a:p>
          <a:p>
            <a:endParaRPr lang="en-US" dirty="0"/>
          </a:p>
          <a:p>
            <a:r>
              <a:rPr lang="en-US" dirty="0"/>
              <a:t>https://jackkrupansky.medium.com/little-data-with-a-big-solution-space-the-sweet-spot-for-quantum-computing-b6c6d76ada6d</a:t>
            </a:r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  <a:p>
            <a:endParaRPr lang="en-US" kern="0" dirty="0">
              <a:solidFill>
                <a:srgbClr val="8A3FFC"/>
              </a:solidFill>
            </a:endParaRPr>
          </a:p>
          <a:p>
            <a:endParaRPr lang="en-US" kern="0" dirty="0"/>
          </a:p>
          <a:p>
            <a:endParaRPr lang="en-US" kern="0" dirty="0"/>
          </a:p>
          <a:p>
            <a:endParaRPr lang="en-US" kern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A58DB6-890A-D444-F950-ABC0CA920D38}"/>
              </a:ext>
            </a:extLst>
          </p:cNvPr>
          <p:cNvSpPr txBox="1"/>
          <p:nvPr/>
        </p:nvSpPr>
        <p:spPr>
          <a:xfrm>
            <a:off x="3590354" y="10106213"/>
            <a:ext cx="7478395" cy="26619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800" dirty="0"/>
              <a:t>Figure 1: A circuit ansatz with hierarchical architecture on 6 qubits laid out on a grid. Vertical gray lines on the circuit indicate a partial circuit which is variationally learned before using it as input to the next sub-circuit.</a:t>
            </a:r>
            <a:endParaRPr lang="en-US" sz="2800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</p:spTree>
    <p:extLst>
      <p:ext uri="{BB962C8B-B14F-4D97-AF65-F5344CB8AC3E}">
        <p14:creationId xmlns:p14="http://schemas.microsoft.com/office/powerpoint/2010/main" val="2576175334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8407B-1325-B41F-78B5-A65FA8ABF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44D07BCE-16EF-CD04-8CE6-0F44EBF01E44}"/>
              </a:ext>
            </a:extLst>
          </p:cNvPr>
          <p:cNvCxnSpPr/>
          <p:nvPr/>
        </p:nvCxnSpPr>
        <p:spPr bwMode="auto">
          <a:xfrm>
            <a:off x="12188952" y="566928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47089-DD8C-E759-C959-7D20DCB8C7E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63500" y="576072"/>
            <a:ext cx="4953000" cy="2126488"/>
          </a:xfrm>
        </p:spPr>
        <p:txBody>
          <a:bodyPr/>
          <a:lstStyle/>
          <a:p>
            <a:r>
              <a:rPr lang="en-US" dirty="0" err="1">
                <a:solidFill>
                  <a:srgbClr val="8A3FFC"/>
                </a:solidFill>
              </a:rPr>
              <a:t>Qiskit</a:t>
            </a:r>
            <a:r>
              <a:rPr lang="en-US" dirty="0">
                <a:solidFill>
                  <a:srgbClr val="8A3FFC"/>
                </a:solidFill>
              </a:rPr>
              <a:t> Functions</a:t>
            </a:r>
          </a:p>
          <a:p>
            <a:endParaRPr lang="en-US" dirty="0">
              <a:solidFill>
                <a:srgbClr val="8A3FFC"/>
              </a:solidFill>
            </a:endParaRPr>
          </a:p>
          <a:p>
            <a:r>
              <a:rPr lang="en-US" dirty="0"/>
              <a:t>https://quantum.cloud.ibm.com/functions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819A1D-36E2-9ABB-68AE-AF101C3B2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Multiverse Computing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Singularity Machine Learning Function</a:t>
            </a:r>
          </a:p>
          <a:p>
            <a:endParaRPr lang="en-US" dirty="0"/>
          </a:p>
          <a:p>
            <a:r>
              <a:rPr lang="en-US" dirty="0"/>
              <a:t>“With the Singularity Machine Learning function, you can solve real-world classification problems on quantum hardware without requiring quantum expertise. This function, based on ensemble methods, is a hybrid classifier which combines classical methods like boosting for ensemble training with quantum methods like quantum approximate optimization (QAOA) for optimizing the trained ensemble for maximum diversity, and generalization. </a:t>
            </a:r>
            <a:r>
              <a:rPr lang="en-US" dirty="0">
                <a:solidFill>
                  <a:schemeClr val="accent2"/>
                </a:solidFill>
              </a:rPr>
              <a:t>Unlike other quantum machine learning solutions, this function is capable of handling large-scale datasets with millions of examples and features without being limited by the number of qubits. </a:t>
            </a:r>
            <a:r>
              <a:rPr lang="en-US" dirty="0"/>
              <a:t>It is also highly flexible, and can be used to solve classification problems across a wide range of domains, including finance, healthcare, and cybersecurity.”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https://quantum.cloud.ibm.com/functions</a:t>
            </a:r>
          </a:p>
        </p:txBody>
      </p:sp>
      <p:cxnSp>
        <p:nvCxnSpPr>
          <p:cNvPr id="10" name="Straight Connector 9" descr="Vertical column divider">
            <a:extLst>
              <a:ext uri="{FF2B5EF4-FFF2-40B4-BE49-F238E27FC236}">
                <a16:creationId xmlns:a16="http://schemas.microsoft.com/office/drawing/2014/main" id="{5685AA5B-CF35-C06C-9E40-5AC278237C70}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6C0A87-12C9-C75A-A796-174DFE39F5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Quantum Resource Estimation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665F9A-2251-EC1A-B4CF-62202762A81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771235" y="1639316"/>
            <a:ext cx="4953000" cy="1103020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Quantum Computing Report, article,</a:t>
            </a:r>
          </a:p>
          <a:p>
            <a:r>
              <a:rPr lang="en-US" i="1" dirty="0"/>
              <a:t>Update on the GQI Quantum Resource Estimator Playbook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https://quantumcomputingreport.com/update-on-the-gqi-quantum-resource-estimator-playbook/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Resource Estimation Tools, </a:t>
            </a:r>
            <a:r>
              <a:rPr lang="en-US" dirty="0"/>
              <a:t>Google AI Overview</a:t>
            </a:r>
          </a:p>
          <a:p>
            <a:endParaRPr lang="en-US" dirty="0"/>
          </a:p>
          <a:p>
            <a:r>
              <a:rPr lang="en-US" dirty="0"/>
              <a:t>Tools for quantum resource estimation include </a:t>
            </a:r>
            <a:r>
              <a:rPr lang="en-US" b="1" dirty="0"/>
              <a:t>Azure Quantum Resource Estimator</a:t>
            </a:r>
            <a:r>
              <a:rPr lang="en-US" dirty="0"/>
              <a:t>, </a:t>
            </a:r>
            <a:r>
              <a:rPr lang="en-US" b="1" dirty="0" err="1"/>
              <a:t>QREChem</a:t>
            </a:r>
            <a:r>
              <a:rPr lang="en-US" dirty="0"/>
              <a:t>, </a:t>
            </a:r>
            <a:r>
              <a:rPr lang="en-US" b="1" dirty="0" err="1"/>
              <a:t>TopQAD</a:t>
            </a:r>
            <a:r>
              <a:rPr lang="en-US" dirty="0"/>
              <a:t>, and </a:t>
            </a:r>
            <a:r>
              <a:rPr lang="en-US" b="1" dirty="0" err="1"/>
              <a:t>PsiQuantum's</a:t>
            </a:r>
            <a:r>
              <a:rPr lang="en-US" b="1" dirty="0"/>
              <a:t> QREF and </a:t>
            </a:r>
            <a:r>
              <a:rPr lang="en-US" b="1" dirty="0" err="1"/>
              <a:t>Bartiq</a:t>
            </a:r>
            <a:r>
              <a:rPr lang="en-US" dirty="0"/>
              <a:t>. These tools help estimate the logical and physical qubits, runtime, and other resources needed for a quantum program on a fault-tolerant quantum computer by taking into account various parameters like hardware specifications and error correction codes. </a:t>
            </a:r>
          </a:p>
          <a:p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What is QRE and why is it hard?</a:t>
            </a:r>
          </a:p>
          <a:p>
            <a:endParaRPr lang="en-US" dirty="0"/>
          </a:p>
          <a:p>
            <a:r>
              <a:rPr lang="en-US" dirty="0"/>
              <a:t>https://www.mustythoughts.com/perfect-qre-sw</a:t>
            </a:r>
          </a:p>
          <a:p>
            <a:endParaRPr lang="en-US" dirty="0"/>
          </a:p>
          <a:p>
            <a:pPr algn="ctr"/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AF1EE8C-8251-302E-C1A2-68B619A9266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79EEE69-A7CD-DD05-2D91-AF69474226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577850" y="10106213"/>
            <a:ext cx="1892302" cy="1892302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59D501BC-BF87-D5DC-84DC-DAF5C5D49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850" y="1278937"/>
            <a:ext cx="11039476" cy="2440432"/>
          </a:xfrm>
        </p:spPr>
        <p:txBody>
          <a:bodyPr/>
          <a:lstStyle/>
          <a:p>
            <a:r>
              <a:rPr lang="en-US" dirty="0"/>
              <a:t>Data and Quantum Computers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8CC3C946-BE0B-93B3-DCD7-1FB2A6B12085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4956175" cy="448056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800" kern="0" dirty="0"/>
              <a:t>Quantum Applications</a:t>
            </a:r>
          </a:p>
        </p:txBody>
      </p:sp>
    </p:spTree>
    <p:extLst>
      <p:ext uri="{BB962C8B-B14F-4D97-AF65-F5344CB8AC3E}">
        <p14:creationId xmlns:p14="http://schemas.microsoft.com/office/powerpoint/2010/main" val="248227564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971F5-34FA-4299-ABD4-E7A305381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1372869-8198-A60A-CEB1-E3DF8E3626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Quantum Hardware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FDB50E-392A-A038-E3E5-576E4D9C6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1527048"/>
            <a:ext cx="11044239" cy="2276856"/>
          </a:xfrm>
        </p:spPr>
        <p:txBody>
          <a:bodyPr/>
          <a:lstStyle/>
          <a:p>
            <a:r>
              <a:rPr lang="en-US" dirty="0"/>
              <a:t>Superconducting Qubits</a:t>
            </a:r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1CF0ADA-31D7-7D6B-0589-CCA104A35BA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CEA8F-1AD2-264B-82A1-4E59C7B5537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How are QPUs Fabricated?</a:t>
            </a:r>
          </a:p>
          <a:p>
            <a:endParaRPr lang="en-US" dirty="0"/>
          </a:p>
          <a:p>
            <a:r>
              <a:rPr lang="en-US" dirty="0"/>
              <a:t>Inside Quantum Chip Manufacturing: From Qubits to Fabrication, </a:t>
            </a:r>
            <a:r>
              <a:rPr lang="en-US" dirty="0" err="1"/>
              <a:t>SpinQ</a:t>
            </a:r>
            <a:r>
              <a:rPr lang="en-US" dirty="0"/>
              <a:t> Blog</a:t>
            </a:r>
          </a:p>
          <a:p>
            <a:endParaRPr lang="en-US" dirty="0"/>
          </a:p>
          <a:p>
            <a:r>
              <a:rPr lang="en-US" dirty="0"/>
              <a:t>https://www.spinquanta.com/news-detail/inside-quantum-chip-manufacturing-from-qubits-to-fabrication</a:t>
            </a:r>
          </a:p>
          <a:p>
            <a:endParaRPr lang="en-US" dirty="0"/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575AFD34-0D78-5918-4DC2-B6E97979250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8288000" y="569913"/>
            <a:ext cx="0" cy="11431587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94BCB7-6AAA-220B-C0E4-C7038067FC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8859499" y="569913"/>
            <a:ext cx="5168897" cy="5145087"/>
          </a:xfrm>
        </p:spPr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How To Build A Quantum Computer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/>
          </a:p>
          <a:p>
            <a:r>
              <a:rPr lang="en-US" dirty="0"/>
              <a:t>YT Channel: Lukas’s Lab (9 min)</a:t>
            </a:r>
          </a:p>
          <a:p>
            <a:r>
              <a:rPr lang="en-US" dirty="0"/>
              <a:t>https://www.youtube.com/watch?v=N06hC1GL1ns&amp;t=421s</a:t>
            </a:r>
          </a:p>
          <a:p>
            <a:endParaRPr lang="en-US" dirty="0"/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9C8433F3-F148-DF5A-4B75-A59390B5800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/>
          <p:nvPr/>
        </p:nvCxnSpPr>
        <p:spPr bwMode="auto">
          <a:xfrm>
            <a:off x="12192000" y="6096000"/>
            <a:ext cx="1162202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B8C7DA1-923D-8CC1-8EA1-70AF64FDC8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Intel’s Big Bet: Inside the Chipmaker’s Make-or-Break Factory</a:t>
            </a:r>
          </a:p>
          <a:p>
            <a:endParaRPr lang="en-US" dirty="0">
              <a:solidFill>
                <a:srgbClr val="8A3FFC"/>
              </a:solidFill>
            </a:endParaRPr>
          </a:p>
          <a:p>
            <a:r>
              <a:rPr lang="en-US" dirty="0"/>
              <a:t>https://www.nytimes.com/2025/10/09/technology/intel-chip-factory-fab52.html?searchResultPosition=1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D41A3E-7411-3B26-7FB0-DB9303AFA2C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>
                <a:solidFill>
                  <a:srgbClr val="8A3FFC"/>
                </a:solidFill>
              </a:rPr>
              <a:t>How Semiconductors Are Fabricated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/>
              <a:t>https://www.nytimes.com/2022/04/08/technology/intel-chip-shortage.html</a:t>
            </a:r>
          </a:p>
          <a:p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E777A4-EEB7-B8DD-BB13-E0DAF5DA02E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01729-084E-1A7B-EA93-A32306EE6C75}"/>
              </a:ext>
            </a:extLst>
          </p:cNvPr>
          <p:cNvSpPr txBox="1"/>
          <p:nvPr/>
        </p:nvSpPr>
        <p:spPr>
          <a:xfrm>
            <a:off x="26273760" y="12649200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F5544D3-D723-D313-B5D6-9D506675BB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74675" y="10109200"/>
            <a:ext cx="1892300" cy="18923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8719DA-8C36-B158-1D8F-1C0A2930720B}"/>
              </a:ext>
            </a:extLst>
          </p:cNvPr>
          <p:cNvSpPr txBox="1"/>
          <p:nvPr/>
        </p:nvSpPr>
        <p:spPr>
          <a:xfrm>
            <a:off x="571500" y="4675125"/>
            <a:ext cx="9113520" cy="46339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800" b="1" dirty="0"/>
              <a:t>Superconducting Qubits I: Quantizing a Harmonic Oscillator, Josephson Junctions - Part 1, Lecture 16, by Zlatko Minev, IBM Quantum (now at Google)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sz="2800" dirty="0">
                <a:hlinkClick r:id="rId4"/>
              </a:rPr>
              <a:t>https://www.youtube.com/watch?v=kV0RsKXSqRg</a:t>
            </a:r>
            <a:endParaRPr lang="en-US" sz="2800" dirty="0"/>
          </a:p>
          <a:p>
            <a:pPr defTabSz="2438400">
              <a:spcBef>
                <a:spcPts val="2900"/>
              </a:spcBef>
              <a:buSzPct val="100000"/>
            </a:pPr>
            <a:endParaRPr lang="en-US" sz="2800" dirty="0"/>
          </a:p>
          <a:p>
            <a:pPr defTabSz="2438400">
              <a:spcBef>
                <a:spcPts val="2900"/>
              </a:spcBef>
              <a:buSzPct val="100000"/>
            </a:pPr>
            <a:r>
              <a:rPr lang="en-US" sz="2800" b="1" dirty="0"/>
              <a:t>Also, see Lectures 17-21, approx. 6 hours in total</a:t>
            </a:r>
          </a:p>
          <a:p>
            <a:pPr defTabSz="2438400">
              <a:spcBef>
                <a:spcPts val="2900"/>
              </a:spcBef>
              <a:buSzPct val="100000"/>
            </a:pPr>
            <a:endParaRPr lang="en-US" sz="2800" dirty="0"/>
          </a:p>
          <a:p>
            <a:pPr marL="444465" indent="-446749" algn="l" defTabSz="2438400">
              <a:spcBef>
                <a:spcPts val="290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ea typeface="+mj-ea"/>
              <a:cs typeface="+mj-cs"/>
              <a:sym typeface="IBM Plex Sans Ligh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5F320-3BEB-9755-7AF8-2096691E5547}"/>
              </a:ext>
            </a:extLst>
          </p:cNvPr>
          <p:cNvSpPr txBox="1"/>
          <p:nvPr/>
        </p:nvSpPr>
        <p:spPr>
          <a:xfrm>
            <a:off x="3759200" y="9624060"/>
            <a:ext cx="7861111" cy="2692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rtlCol="0">
            <a:noAutofit/>
          </a:bodyPr>
          <a:lstStyle/>
          <a:p>
            <a:pPr defTabSz="2438400">
              <a:spcBef>
                <a:spcPts val="2900"/>
              </a:spcBef>
              <a:buSzPct val="100000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Zlatko has several </a:t>
            </a:r>
            <a:r>
              <a:rPr lang="en-US" sz="2800" kern="0" dirty="0">
                <a:solidFill>
                  <a:srgbClr val="8A3FFC"/>
                </a:solidFill>
                <a:ea typeface="+mj-ea"/>
                <a:cs typeface="+mj-cs"/>
                <a:sym typeface="IBM Plex Sans Light"/>
              </a:rPr>
              <a:t>presentations on noise </a:t>
            </a: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too.  One example, </a:t>
            </a:r>
          </a:p>
          <a:p>
            <a:pPr defTabSz="2438400">
              <a:spcBef>
                <a:spcPts val="2900"/>
              </a:spcBef>
              <a:buSzPct val="100000"/>
            </a:pPr>
            <a:r>
              <a:rPr lang="en-US" sz="2800" kern="0" dirty="0">
                <a:solidFill>
                  <a:srgbClr val="000000"/>
                </a:solidFill>
                <a:ea typeface="+mj-ea"/>
                <a:cs typeface="+mj-cs"/>
                <a:sym typeface="IBM Plex Sans Light"/>
              </a:rPr>
              <a:t>https://www.zlatko-minev.com/blog/quantum-error-mitigation-bss23</a:t>
            </a:r>
          </a:p>
        </p:txBody>
      </p:sp>
    </p:spTree>
    <p:extLst>
      <p:ext uri="{BB962C8B-B14F-4D97-AF65-F5344CB8AC3E}">
        <p14:creationId xmlns:p14="http://schemas.microsoft.com/office/powerpoint/2010/main" val="4096696883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87736-EAA0-4D04-51AF-BA330D35A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74BFE-6D64-741E-086F-9BB6BBE32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072" y="384048"/>
            <a:ext cx="11045825" cy="1324293"/>
          </a:xfrm>
        </p:spPr>
        <p:txBody>
          <a:bodyPr/>
          <a:lstStyle/>
          <a:p>
            <a:r>
              <a:rPr lang="en-US" dirty="0"/>
              <a:t>QC Biggest Challenge?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2361A16-3F32-617B-57E0-FAD41DD2BAF7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/>
              <a:t>Qiskit Fall Fest 2025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0CC37D-485A-98FB-961F-F6DBCC8EC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26030" y="11348844"/>
            <a:ext cx="1892302" cy="189230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46DFA3-BA05-7E41-8B35-622B5226E7A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63500" y="576073"/>
            <a:ext cx="4953000" cy="2390648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Zlatko says, “Noise.” (2022)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https://www.zlatko-minev.com/blog/pec-talk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b="1" dirty="0">
              <a:solidFill>
                <a:schemeClr val="accent2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81698D-E68F-1A70-6F93-B67E4C3246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859500" y="576073"/>
            <a:ext cx="4953000" cy="1892302"/>
          </a:xfrm>
        </p:spPr>
        <p:txBody>
          <a:bodyPr/>
          <a:lstStyle/>
          <a:p>
            <a:r>
              <a:rPr lang="en-US" b="1" dirty="0">
                <a:solidFill>
                  <a:schemeClr val="accent2"/>
                </a:solidFill>
              </a:rPr>
              <a:t>How Deal with Noise?</a:t>
            </a:r>
          </a:p>
          <a:p>
            <a:endParaRPr lang="en-US" b="1" dirty="0">
              <a:solidFill>
                <a:schemeClr val="accent2"/>
              </a:solidFill>
            </a:endParaRPr>
          </a:p>
          <a:p>
            <a:r>
              <a:rPr lang="en-US" dirty="0"/>
              <a:t>Depends on the type of noise.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 descr="A white background with blue text&#10;&#10;AI-generated content may be incorrect.">
            <a:extLst>
              <a:ext uri="{FF2B5EF4-FFF2-40B4-BE49-F238E27FC236}">
                <a16:creationId xmlns:a16="http://schemas.microsoft.com/office/drawing/2014/main" id="{F72D4BED-4208-4F27-A43B-CC7C167381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675" y="2010283"/>
            <a:ext cx="9112718" cy="4940554"/>
          </a:xfrm>
          <a:prstGeom prst="rect">
            <a:avLst/>
          </a:prstGeom>
        </p:spPr>
      </p:pic>
      <p:pic>
        <p:nvPicPr>
          <p:cNvPr id="10" name="Picture 9" descr="A computer screen shot&#10;&#10;AI-generated content may be incorrect.">
            <a:extLst>
              <a:ext uri="{FF2B5EF4-FFF2-40B4-BE49-F238E27FC236}">
                <a16:creationId xmlns:a16="http://schemas.microsoft.com/office/drawing/2014/main" id="{FA322D28-4F48-1656-B9E1-E61AEECD2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9344" y="3100639"/>
            <a:ext cx="13295998" cy="7514722"/>
          </a:xfrm>
          <a:prstGeom prst="rect">
            <a:avLst/>
          </a:prstGeom>
        </p:spPr>
      </p:pic>
      <p:pic>
        <p:nvPicPr>
          <p:cNvPr id="14" name="Picture 13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63FF0337-AE77-9E4E-B2F1-20C8BC19E5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624" y="7559104"/>
            <a:ext cx="9150820" cy="49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515393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89C1B-A06B-1F00-3D17-91E94FBC2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34FA5-DEA3-A27F-BD8A-ACE048F9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Beginner Challenge Notebook</a:t>
            </a:r>
          </a:p>
        </p:txBody>
      </p:sp>
      <p:cxnSp>
        <p:nvCxnSpPr>
          <p:cNvPr id="10" name="Straight Connector 9" descr="Horizontal row divider">
            <a:extLst>
              <a:ext uri="{FF2B5EF4-FFF2-40B4-BE49-F238E27FC236}">
                <a16:creationId xmlns:a16="http://schemas.microsoft.com/office/drawing/2014/main" id="{D7CDBEF3-04FB-BCF3-0E53-C8A99E491DFB}"/>
              </a:ext>
            </a:extLst>
          </p:cNvPr>
          <p:cNvCxnSpPr/>
          <p:nvPr/>
        </p:nvCxnSpPr>
        <p:spPr bwMode="auto">
          <a:xfrm>
            <a:off x="568325" y="6096000"/>
            <a:ext cx="23244175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28BC75-033B-89F5-AA6E-B3F570CDA8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1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Software Setup</a:t>
            </a:r>
            <a:endParaRPr lang="en-US" dirty="0"/>
          </a:p>
        </p:txBody>
      </p:sp>
      <p:cxnSp>
        <p:nvCxnSpPr>
          <p:cNvPr id="11" name="Straight Connector 10" descr="Vertical column divider">
            <a:extLst>
              <a:ext uri="{FF2B5EF4-FFF2-40B4-BE49-F238E27FC236}">
                <a16:creationId xmlns:a16="http://schemas.microsoft.com/office/drawing/2014/main" id="{65A6F895-2EF2-FC36-F115-5A84470E6896}"/>
              </a:ext>
            </a:extLst>
          </p:cNvPr>
          <p:cNvCxnSpPr>
            <a:cxnSpLocks/>
          </p:cNvCxnSpPr>
          <p:nvPr/>
        </p:nvCxnSpPr>
        <p:spPr bwMode="auto">
          <a:xfrm>
            <a:off x="6096000" y="6096000"/>
            <a:ext cx="0" cy="5870448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BCCBC-5AA3-6F21-AE69-B5F5FBC7C1C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69591" y="6667501"/>
            <a:ext cx="5136327" cy="5344917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2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Circuits and Visualization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cxnSp>
        <p:nvCxnSpPr>
          <p:cNvPr id="12" name="Straight Connector 11" descr="Vertical column divider">
            <a:extLst>
              <a:ext uri="{FF2B5EF4-FFF2-40B4-BE49-F238E27FC236}">
                <a16:creationId xmlns:a16="http://schemas.microsoft.com/office/drawing/2014/main" id="{1AA3780C-8421-7CF4-1BAF-2F74DE5F4BB2}"/>
              </a:ext>
            </a:extLst>
          </p:cNvPr>
          <p:cNvCxnSpPr>
            <a:cxnSpLocks/>
          </p:cNvCxnSpPr>
          <p:nvPr/>
        </p:nvCxnSpPr>
        <p:spPr bwMode="auto">
          <a:xfrm>
            <a:off x="12188952" y="6099048"/>
            <a:ext cx="0" cy="589063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0EB181-557C-AA8A-1F5C-6B0E3DFE2E1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3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Optimize, then Run on Simulator or Fake Backend</a:t>
            </a:r>
          </a:p>
          <a:p>
            <a:endParaRPr lang="en-US" dirty="0"/>
          </a:p>
        </p:txBody>
      </p:sp>
      <p:cxnSp>
        <p:nvCxnSpPr>
          <p:cNvPr id="13" name="Straight Connector 12" descr="Vertical column divider">
            <a:extLst>
              <a:ext uri="{FF2B5EF4-FFF2-40B4-BE49-F238E27FC236}">
                <a16:creationId xmlns:a16="http://schemas.microsoft.com/office/drawing/2014/main" id="{B811A9F8-98D8-244E-8044-54CA415A7612}"/>
              </a:ext>
            </a:extLst>
          </p:cNvPr>
          <p:cNvCxnSpPr>
            <a:cxnSpLocks/>
          </p:cNvCxnSpPr>
          <p:nvPr/>
        </p:nvCxnSpPr>
        <p:spPr bwMode="auto">
          <a:xfrm>
            <a:off x="18288000" y="6096000"/>
            <a:ext cx="0" cy="5868329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3AB6179-C03A-F273-2E9A-0F74686864E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859500" y="6667501"/>
            <a:ext cx="4949825" cy="6515099"/>
          </a:xfrm>
        </p:spPr>
        <p:txBody>
          <a:bodyPr/>
          <a:lstStyle/>
          <a:p>
            <a:r>
              <a:rPr lang="en-US" sz="6400" dirty="0">
                <a:solidFill>
                  <a:srgbClr val="EE5396"/>
                </a:solidFill>
              </a:rPr>
              <a:t>4</a:t>
            </a:r>
          </a:p>
          <a:p>
            <a:br>
              <a:rPr lang="en-US" dirty="0"/>
            </a:br>
            <a:r>
              <a:rPr lang="en-US" b="1" dirty="0">
                <a:solidFill>
                  <a:schemeClr val="accent2"/>
                </a:solidFill>
              </a:rPr>
              <a:t>Run on Real Quantum HW</a:t>
            </a:r>
          </a:p>
          <a:p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7A6405F-56C6-9397-6B7A-D9F3F65647C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76072" y="12801600"/>
            <a:ext cx="4956176" cy="381000"/>
          </a:xfrm>
        </p:spPr>
        <p:txBody>
          <a:bodyPr/>
          <a:lstStyle/>
          <a:p>
            <a:r>
              <a:rPr lang="en-US" dirty="0" err="1"/>
              <a:t>Qiskit</a:t>
            </a:r>
            <a:r>
              <a:rPr lang="en-US" dirty="0"/>
              <a:t> Fall Fest 2025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8192D2B0-84C0-3AA9-DC11-BAEEE3185F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1912263" y="532124"/>
            <a:ext cx="1892300" cy="189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521956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3492A-6B8C-9950-1EA8-B60F62876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85CDFE3C-F11E-4F45-718B-36E101E39A4F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34548056" y="19131093"/>
            <a:ext cx="489374" cy="262914"/>
          </a:xfrm>
          <a:prstGeom prst="rect">
            <a:avLst/>
          </a:prstGeom>
        </p:spPr>
        <p:txBody>
          <a:bodyPr vert="horz" wrap="square" lIns="0" tIns="20023" rIns="0" bIns="0" rtlCol="0" anchor="b" anchorCtr="0">
            <a:spAutoFit/>
          </a:bodyPr>
          <a:lstStyle/>
          <a:p>
            <a:pPr marL="135543">
              <a:spcBef>
                <a:spcPts val="158"/>
              </a:spcBef>
            </a:pPr>
            <a:fld id="{81D60167-4931-47E6-BA6A-407CBD079E47}" type="slidenum">
              <a:rPr spc="73" dirty="0"/>
              <a:pPr marL="135543">
                <a:spcBef>
                  <a:spcPts val="158"/>
                </a:spcBef>
              </a:pPr>
              <a:t>20</a:t>
            </a:fld>
            <a:endParaRPr spc="73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A7763F8-5543-2867-6BEE-AA99CC5F7E75}"/>
              </a:ext>
            </a:extLst>
          </p:cNvPr>
          <p:cNvSpPr txBox="1">
            <a:spLocks/>
          </p:cNvSpPr>
          <p:nvPr/>
        </p:nvSpPr>
        <p:spPr>
          <a:xfrm>
            <a:off x="576072" y="576072"/>
            <a:ext cx="10099675" cy="571500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329184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658368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987552" marR="0" indent="-329184" algn="l" defTabSz="2438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36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1143000" marR="0" indent="-457200" algn="l" defTabSz="2438400" rtl="0" eaLnBrk="1" latinLnBrk="0" hangingPunct="1">
              <a:lnSpc>
                <a:spcPct val="11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184306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2205631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2568200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2930769" marR="0" indent="-389009" algn="l" defTabSz="2438400" rtl="0" eaLnBrk="1" latinLnBrk="0" hangingPunct="1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3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>
                <a:solidFill>
                  <a:srgbClr val="697077"/>
                </a:solidFill>
                <a:latin typeface="IBM Plex Mono" panose="020B0509050203000203" pitchFamily="49" charset="77"/>
              </a:rPr>
              <a:t>Qiskit Fall Fest 2025</a:t>
            </a:r>
            <a:endParaRPr lang="en-US" kern="0" dirty="0">
              <a:solidFill>
                <a:srgbClr val="697077"/>
              </a:solidFill>
              <a:latin typeface="IBM Plex Mono" panose="020B0509050203000203" pitchFamily="49" charset="77"/>
            </a:endParaRPr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F8DACD11-B02B-184F-A7C8-9683993F047D}"/>
              </a:ext>
            </a:extLst>
          </p:cNvPr>
          <p:cNvSpPr txBox="1">
            <a:spLocks/>
          </p:cNvSpPr>
          <p:nvPr/>
        </p:nvSpPr>
        <p:spPr>
          <a:xfrm>
            <a:off x="576072" y="1527048"/>
            <a:ext cx="10099675" cy="9337675"/>
          </a:xfrm>
          <a:prstGeom prst="rect">
            <a:avLst/>
          </a:prstGeom>
        </p:spPr>
        <p:txBody>
          <a:bodyPr/>
          <a:lstStyle>
            <a:lvl1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kern="0" dirty="0">
                <a:solidFill>
                  <a:schemeClr val="tx1"/>
                </a:solidFill>
              </a:rPr>
              <a:t>Thanks for Coming!!!</a:t>
            </a:r>
            <a:br>
              <a:rPr lang="en-US" kern="0" dirty="0">
                <a:solidFill>
                  <a:schemeClr val="tx1"/>
                </a:solidFill>
              </a:rPr>
            </a:br>
            <a:endParaRPr lang="en-US" kern="0" dirty="0">
              <a:solidFill>
                <a:schemeClr val="tx1"/>
              </a:solidFill>
            </a:endParaRP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E9214AB-CC49-1F4B-7CF2-9C04DA5EE615}"/>
              </a:ext>
            </a:extLst>
          </p:cNvPr>
          <p:cNvSpPr txBox="1">
            <a:spLocks/>
          </p:cNvSpPr>
          <p:nvPr/>
        </p:nvSpPr>
        <p:spPr>
          <a:xfrm>
            <a:off x="568325" y="4253501"/>
            <a:ext cx="9048286" cy="7935451"/>
          </a:xfrm>
          <a:prstGeom prst="rect">
            <a:avLst/>
          </a:prstGeom>
        </p:spPr>
        <p:txBody>
          <a:bodyPr vert="horz" lIns="0" tIns="0" rIns="0" bIns="0" rtlCol="0" anchor="t"/>
          <a:lstStyle>
            <a:defPPr>
              <a:defRPr lang="en-US"/>
            </a:defPPr>
            <a:lvl1pPr marL="0" algn="l" defTabSz="1829379" rtl="0" eaLnBrk="1" latinLnBrk="0" hangingPunct="1">
              <a:defRPr sz="1600" b="0" i="0" kern="120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91468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937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406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8759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344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813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2827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7518" algn="l" defTabSz="182937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800" b="1" dirty="0">
              <a:effectLst/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Deadline for Submissions: </a:t>
            </a:r>
            <a:r>
              <a:rPr lang="en-US" sz="2800" dirty="0">
                <a:latin typeface="+mj-lt"/>
              </a:rPr>
              <a:t>Monday Nov 24, 10 am PT</a:t>
            </a:r>
          </a:p>
          <a:p>
            <a:endParaRPr lang="en-US" sz="2800" dirty="0">
              <a:effectLst/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New Zoom Meetup: </a:t>
            </a:r>
            <a:r>
              <a:rPr lang="en-US" sz="2800" dirty="0">
                <a:latin typeface="+mj-lt"/>
              </a:rPr>
              <a:t>Tuesday Oct 28, 6 pm PT</a:t>
            </a:r>
          </a:p>
          <a:p>
            <a:endParaRPr lang="en-US" sz="2800" b="1" dirty="0">
              <a:latin typeface="+mj-lt"/>
            </a:endParaRPr>
          </a:p>
          <a:p>
            <a:endParaRPr lang="en-US" sz="2800" b="1" dirty="0"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Next IRL Meetup: </a:t>
            </a:r>
            <a:r>
              <a:rPr lang="en-US" sz="2800" dirty="0">
                <a:latin typeface="+mj-lt"/>
              </a:rPr>
              <a:t>Saturday Nov 1, 2 pm PT</a:t>
            </a:r>
          </a:p>
          <a:p>
            <a:endParaRPr lang="en-US" sz="2800" dirty="0"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Upcoming</a:t>
            </a:r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 Event: </a:t>
            </a:r>
            <a:r>
              <a:rPr lang="en-US" sz="2800" dirty="0" err="1">
                <a:effectLst/>
                <a:latin typeface="+mj-lt"/>
              </a:rPr>
              <a:t>TechAlliance</a:t>
            </a:r>
            <a:r>
              <a:rPr lang="en-US" sz="2800" dirty="0">
                <a:effectLst/>
                <a:latin typeface="+mj-lt"/>
              </a:rPr>
              <a:t>, Nov 19, South Seattle</a:t>
            </a:r>
          </a:p>
          <a:p>
            <a:endParaRPr lang="en-US" sz="2800" dirty="0">
              <a:effectLst/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  <a:p>
            <a:r>
              <a:rPr lang="en-US" sz="2800" b="1" dirty="0">
                <a:solidFill>
                  <a:srgbClr val="8A3FFC"/>
                </a:solidFill>
                <a:latin typeface="+mj-lt"/>
              </a:rPr>
              <a:t>Upcoming </a:t>
            </a:r>
            <a:r>
              <a:rPr lang="en-US" sz="2800" b="1" dirty="0">
                <a:solidFill>
                  <a:srgbClr val="8A3FFC"/>
                </a:solidFill>
                <a:effectLst/>
                <a:latin typeface="+mj-lt"/>
              </a:rPr>
              <a:t>Meetup: </a:t>
            </a:r>
            <a:r>
              <a:rPr lang="en-US" sz="2800" dirty="0">
                <a:effectLst/>
                <a:latin typeface="+mj-lt"/>
              </a:rPr>
              <a:t>Date? in </a:t>
            </a:r>
            <a:r>
              <a:rPr lang="en-US" sz="2800" dirty="0">
                <a:latin typeface="+mj-lt"/>
              </a:rPr>
              <a:t>December w/</a:t>
            </a:r>
            <a:r>
              <a:rPr lang="en-US" sz="2800" dirty="0">
                <a:solidFill>
                  <a:srgbClr val="FF0000"/>
                </a:solidFill>
                <a:latin typeface="+mj-lt"/>
              </a:rPr>
              <a:t>Holiday</a:t>
            </a:r>
            <a:r>
              <a:rPr lang="en-US" sz="2800" dirty="0">
                <a:latin typeface="+mj-lt"/>
              </a:rPr>
              <a:t> </a:t>
            </a:r>
            <a:r>
              <a:rPr lang="en-US" sz="2800" dirty="0">
                <a:solidFill>
                  <a:srgbClr val="24A148"/>
                </a:solidFill>
                <a:latin typeface="+mj-lt"/>
              </a:rPr>
              <a:t>Party</a:t>
            </a:r>
            <a:br>
              <a:rPr lang="en-US" sz="2800" dirty="0">
                <a:effectLst/>
                <a:latin typeface="IBM Plex Sans Light" panose="020B0403050203000203" pitchFamily="34" charset="0"/>
              </a:rPr>
            </a:br>
            <a:endParaRPr lang="en-US" sz="2800" dirty="0">
              <a:effectLst/>
              <a:latin typeface="IBM Plex Sans Light" panose="020B0403050203000203" pitchFamily="34" charset="0"/>
            </a:endParaRPr>
          </a:p>
          <a:p>
            <a:br>
              <a:rPr lang="en-US" sz="2800" dirty="0">
                <a:effectLst/>
                <a:latin typeface="+mj-lt"/>
              </a:rPr>
            </a:br>
            <a:endParaRPr lang="en-US" sz="2800" dirty="0">
              <a:effectLst/>
              <a:latin typeface="+mj-lt"/>
            </a:endParaRPr>
          </a:p>
          <a:p>
            <a:endParaRPr lang="en-US" sz="2800" dirty="0">
              <a:latin typeface="+mj-lt"/>
            </a:endParaRPr>
          </a:p>
          <a:p>
            <a:endParaRPr lang="en-US" sz="2800" dirty="0">
              <a:effectLst/>
              <a:latin typeface="+mj-lt"/>
            </a:endParaRPr>
          </a:p>
        </p:txBody>
      </p:sp>
      <p:pic>
        <p:nvPicPr>
          <p:cNvPr id="2" name="Graphic 6">
            <a:extLst>
              <a:ext uri="{FF2B5EF4-FFF2-40B4-BE49-F238E27FC236}">
                <a16:creationId xmlns:a16="http://schemas.microsoft.com/office/drawing/2014/main" id="{A6985911-27D4-2B6F-B069-00BCDE5DDE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5245135" y="188681"/>
            <a:ext cx="9142040" cy="135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324125"/>
      </p:ext>
    </p:extLst>
  </p:cSld>
  <p:clrMapOvr>
    <a:masterClrMapping/>
  </p:clrMapOvr>
</p:sld>
</file>

<file path=ppt/theme/theme1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Quantum_Presentation_Template_Plex_Embed" id="{E751D091-48B7-B947-A3EB-61D5938A941E}" vid="{BBD60A32-9C2D-5B41-BB36-F4AA98EC1F0C}"/>
    </a:ext>
  </a:extLst>
</a:theme>
</file>

<file path=ppt/theme/theme2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ppt/theme/theme3.xml><?xml version="1.0" encoding="utf-8"?>
<a:theme xmlns:a="http://schemas.openxmlformats.org/drawingml/2006/main" name="IBM Brand Template 2022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19050">
          <a:solidFill>
            <a:schemeClr val="accent1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905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r="http://schemas.openxmlformats.org/officeDocument/2006/relationships" xmlns:p="http://schemas.openxmlformats.org/presentationml/2006/main" xmlns="" xmlns:m="http://schemas.openxmlformats.org/officeDocument/2006/math" xmlns:a14="http://schemas.microsoft.com/office/drawing/2010/main" xmlns:ma14="http://schemas.microsoft.com/office/mac/drawingml/2011/main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Master_Presentation_2021_V01_Plex" id="{BD398A2B-0B96-D843-9A4A-05239798B6A1}" vid="{46683C84-C800-D441-9101-471717108C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IBM presentation template</Template>
  <TotalTime>4598</TotalTime>
  <Words>2613</Words>
  <Application>Microsoft Office PowerPoint</Application>
  <PresentationFormat>Custom</PresentationFormat>
  <Paragraphs>399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IBM Plex Mono</vt:lpstr>
      <vt:lpstr>IBM Plex Sans</vt:lpstr>
      <vt:lpstr>IBM Plex Sans ExtLt</vt:lpstr>
      <vt:lpstr>IBM Plex Sans Light</vt:lpstr>
      <vt:lpstr>IBM Plex Sans Medm</vt:lpstr>
      <vt:lpstr>IBM presentation template</vt:lpstr>
      <vt:lpstr>PowerPoint Presentation</vt:lpstr>
      <vt:lpstr>Agenda</vt:lpstr>
      <vt:lpstr>Q News</vt:lpstr>
      <vt:lpstr>Q News</vt:lpstr>
      <vt:lpstr>Q News</vt:lpstr>
      <vt:lpstr>Announcements</vt:lpstr>
      <vt:lpstr>PowerPoint Presentation</vt:lpstr>
      <vt:lpstr>Others Are Moving Fast   - passing laws  - building hubs - attracting funding</vt:lpstr>
      <vt:lpstr>What is Q-Day?</vt:lpstr>
      <vt:lpstr>Revisit Previous Questions</vt:lpstr>
      <vt:lpstr>Greek Alphabet</vt:lpstr>
      <vt:lpstr>AI and Quantum Computers</vt:lpstr>
      <vt:lpstr>AI Tool Trends</vt:lpstr>
      <vt:lpstr>Panorama of the Open-Source Large Model Ecosystem 2.0</vt:lpstr>
      <vt:lpstr>Data and Quantum Computers</vt:lpstr>
      <vt:lpstr>Data and Quantum Computers</vt:lpstr>
      <vt:lpstr>Superconducting Qubits</vt:lpstr>
      <vt:lpstr>QC Biggest Challenge?</vt:lpstr>
      <vt:lpstr>Qiskit Beginner Challenge Notebook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Templates  Sample layouts</dc:title>
  <dc:subject/>
  <dc:creator>NATALIE TAYLOR</dc:creator>
  <cp:keywords/>
  <dc:description/>
  <cp:lastModifiedBy>Natalie Hawkins</cp:lastModifiedBy>
  <cp:revision>139</cp:revision>
  <cp:lastPrinted>2019-04-25T15:14:05Z</cp:lastPrinted>
  <dcterms:created xsi:type="dcterms:W3CDTF">2024-04-30T19:03:56Z</dcterms:created>
  <dcterms:modified xsi:type="dcterms:W3CDTF">2025-10-25T20:34:44Z</dcterms:modified>
  <cp:category/>
</cp:coreProperties>
</file>