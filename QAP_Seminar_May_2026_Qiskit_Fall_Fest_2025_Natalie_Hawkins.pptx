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8"/>
  </p:notesMasterIdLst>
  <p:handoutMasterIdLst>
    <p:handoutMasterId r:id="rId9"/>
  </p:handoutMasterIdLst>
  <p:sldIdLst>
    <p:sldId id="620" r:id="rId2"/>
    <p:sldId id="482" r:id="rId3"/>
    <p:sldId id="421" r:id="rId4"/>
    <p:sldId id="425" r:id="rId5"/>
    <p:sldId id="426" r:id="rId6"/>
    <p:sldId id="439" r:id="rId7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161364A9-2106-084F-BFD9-DE7ABBB6242C}">
          <p14:sldIdLst>
            <p14:sldId id="620"/>
          </p14:sldIdLst>
        </p14:section>
        <p14:section name="Template slides" id="{4700659D-582D-3B47-8AF6-59C9324AA29A}">
          <p14:sldIdLst>
            <p14:sldId id="482"/>
            <p14:sldId id="421"/>
            <p14:sldId id="425"/>
            <p14:sldId id="426"/>
            <p14:sldId id="439"/>
          </p14:sldIdLst>
        </p14:section>
        <p14:section name="Selected Pictograms" id="{A71DFE44-60A9-FA4A-8A00-EEDEE7195C5C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95FF"/>
    <a:srgbClr val="FF7EB6"/>
    <a:srgbClr val="697077"/>
    <a:srgbClr val="21272A"/>
    <a:srgbClr val="12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28"/>
    <p:restoredTop sz="96327"/>
  </p:normalViewPr>
  <p:slideViewPr>
    <p:cSldViewPr snapToGrid="0" snapToObjects="1">
      <p:cViewPr varScale="1">
        <p:scale>
          <a:sx n="66" d="100"/>
          <a:sy n="66" d="100"/>
        </p:scale>
        <p:origin x="72" y="100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68565-7F8C-02B2-C023-76DFC301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8D1FA-790B-BE98-6D1F-5A6EAB6BEB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697077"/>
                </a:solidFill>
                <a:latin typeface="IBM Plex Mono" panose="020B0509050203000203" pitchFamily="49" charset="77"/>
              </a:rPr>
              <a:t>QAP Seminar May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EB306-8B59-F739-1EC6-FA841CDA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Qiskit</a:t>
            </a:r>
            <a:r>
              <a:rPr lang="en-US" dirty="0">
                <a:solidFill>
                  <a:schemeClr val="tx1"/>
                </a:solidFill>
              </a:rPr>
              <a:t> Fall Fest 2025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Event and Outcomes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3635637-1E5E-106A-A762-CEC4372BF058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8431296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IBM Plex Sans Medm" panose="020B0503050203000203" pitchFamily="34" charset="0"/>
              </a:rPr>
              <a:t>Natalie</a:t>
            </a:r>
            <a:r>
              <a:rPr lang="en-US" sz="2800" dirty="0">
                <a:effectLst/>
                <a:latin typeface="IBM Plex Sans Medm" panose="020B0503050203000203" pitchFamily="34" charset="0"/>
              </a:rPr>
              <a:t> </a:t>
            </a:r>
            <a:r>
              <a:rPr lang="en-US" sz="2800" dirty="0">
                <a:latin typeface="IBM Plex Sans Medm" panose="020B0503050203000203" pitchFamily="34" charset="0"/>
              </a:rPr>
              <a:t>Hawkins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latin typeface="IBM Plex Sans Light" panose="020B0403050203000203" pitchFamily="34" charset="0"/>
              </a:rPr>
              <a:t>Founder, QFF </a:t>
            </a:r>
            <a:r>
              <a:rPr lang="en-US" sz="2800" dirty="0">
                <a:effectLst/>
                <a:latin typeface="IBM Plex Sans Light" panose="020B0403050203000203" pitchFamily="34" charset="0"/>
              </a:rPr>
              <a:t>Lead Organizer</a:t>
            </a:r>
          </a:p>
          <a:p>
            <a:r>
              <a:rPr lang="en-US" sz="2800" dirty="0">
                <a:latin typeface="+mj-lt"/>
              </a:rPr>
              <a:t>Seattle Quantum Computing Meetup (2022-present)</a:t>
            </a:r>
            <a:br>
              <a:rPr lang="en-US" sz="2800" dirty="0">
                <a:effectLst/>
                <a:latin typeface="+mj-lt"/>
              </a:rPr>
            </a:br>
            <a:endParaRPr lang="en-US" sz="2800" dirty="0">
              <a:effectLst/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71F0B-D9E0-C64D-108B-A65871DB2028}"/>
              </a:ext>
            </a:extLst>
          </p:cNvPr>
          <p:cNvSpPr txBox="1"/>
          <p:nvPr/>
        </p:nvSpPr>
        <p:spPr>
          <a:xfrm>
            <a:off x="22983568" y="-32127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E8A9723-F35F-B44F-768D-D2BFC058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245135" y="188681"/>
            <a:ext cx="9142040" cy="135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4566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32D50B-E670-3E8D-4311-02C22747FD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5997983" cy="448056"/>
          </a:xfrm>
        </p:spPr>
        <p:txBody>
          <a:bodyPr/>
          <a:lstStyle/>
          <a:p>
            <a:r>
              <a:rPr lang="en-US" dirty="0"/>
              <a:t>Summary of Event and Outcomes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86563-2B8E-BC80-D0D7-1ED571AC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2025, a Seattle Community Event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CB780BAF-D571-686E-6AF1-9E6403F742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813D6-5ED6-9A38-316B-0E422FE225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The Numbers</a:t>
            </a:r>
          </a:p>
          <a:p>
            <a:endParaRPr lang="en-US" dirty="0"/>
          </a:p>
          <a:p>
            <a:r>
              <a:rPr lang="en-US" dirty="0"/>
              <a:t>Winning Certificates: 4</a:t>
            </a:r>
          </a:p>
          <a:p>
            <a:r>
              <a:rPr lang="en-US" dirty="0"/>
              <a:t>Participant Certificates: 18</a:t>
            </a:r>
          </a:p>
          <a:p>
            <a:endParaRPr lang="en-US" dirty="0"/>
          </a:p>
          <a:p>
            <a:r>
              <a:rPr lang="en-US" dirty="0"/>
              <a:t>Total Number of Registrants over 9 Events: 94</a:t>
            </a:r>
          </a:p>
          <a:p>
            <a:endParaRPr lang="en-US" dirty="0"/>
          </a:p>
          <a:p>
            <a:r>
              <a:rPr lang="en-US" dirty="0"/>
              <a:t>Stimulated: sharing by the participants of their learning (talk, article, mentor, LI)</a:t>
            </a:r>
          </a:p>
          <a:p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64F68DF2-0445-D221-52E0-2D45AC03BB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FD26B-995C-97E5-79CE-C55473DED2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The Events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Qiskit</a:t>
            </a:r>
            <a:r>
              <a:rPr lang="en-US" dirty="0"/>
              <a:t> and QC 101</a:t>
            </a:r>
          </a:p>
          <a:p>
            <a:pPr marL="457200" indent="-457200">
              <a:buFontTx/>
              <a:buChar char="-"/>
            </a:pPr>
            <a:r>
              <a:rPr lang="en-US" dirty="0"/>
              <a:t>Kickoff</a:t>
            </a:r>
          </a:p>
          <a:p>
            <a:pPr marL="457200" indent="-457200">
              <a:buFontTx/>
              <a:buChar char="-"/>
            </a:pPr>
            <a:r>
              <a:rPr lang="en-US" dirty="0"/>
              <a:t>Happy Hour</a:t>
            </a:r>
          </a:p>
          <a:p>
            <a:pPr marL="457200" indent="-457200">
              <a:buFontTx/>
              <a:buChar char="-"/>
            </a:pPr>
            <a:r>
              <a:rPr lang="en-US" dirty="0"/>
              <a:t>Work Party</a:t>
            </a:r>
          </a:p>
          <a:p>
            <a:pPr marL="457200" indent="-457200">
              <a:buFontTx/>
              <a:buChar char="-"/>
            </a:pPr>
            <a:r>
              <a:rPr lang="en-US" dirty="0"/>
              <a:t>Physics Nobel Prize 2025</a:t>
            </a:r>
          </a:p>
          <a:p>
            <a:pPr marL="457200" indent="-457200">
              <a:buFontTx/>
              <a:buChar char="-"/>
            </a:pPr>
            <a:r>
              <a:rPr lang="en-US" dirty="0"/>
              <a:t>Beginner Notebook Walkthrough</a:t>
            </a:r>
          </a:p>
          <a:p>
            <a:pPr marL="457200" indent="-457200">
              <a:buFontTx/>
              <a:buChar char="-"/>
            </a:pPr>
            <a:r>
              <a:rPr lang="en-US" dirty="0"/>
              <a:t>Zoom Kickoff</a:t>
            </a:r>
          </a:p>
          <a:p>
            <a:pPr marL="457200" indent="-457200">
              <a:buFontTx/>
              <a:buChar char="-"/>
            </a:pPr>
            <a:r>
              <a:rPr lang="en-US" dirty="0"/>
              <a:t>Follow-up on Questions </a:t>
            </a:r>
          </a:p>
          <a:p>
            <a:endParaRPr lang="en-US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1726E15D-8A4D-A0F0-7BE7-24B3C22A91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55F095-493C-B2AA-49B7-76B27ED1B0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The Participants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Software Engineers</a:t>
            </a:r>
          </a:p>
          <a:p>
            <a:pPr marL="457200" indent="-457200">
              <a:buFontTx/>
              <a:buChar char="-"/>
            </a:pPr>
            <a:r>
              <a:rPr lang="en-US" dirty="0"/>
              <a:t>Project Managers</a:t>
            </a:r>
          </a:p>
          <a:p>
            <a:pPr marL="457200" indent="-457200">
              <a:buFontTx/>
              <a:buChar char="-"/>
            </a:pPr>
            <a:r>
              <a:rPr lang="en-US" dirty="0"/>
              <a:t>Community Mentor</a:t>
            </a:r>
          </a:p>
          <a:p>
            <a:pPr marL="457200" indent="-457200">
              <a:buFontTx/>
              <a:buChar char="-"/>
            </a:pPr>
            <a:r>
              <a:rPr lang="en-US" dirty="0"/>
              <a:t>Quantum Curious</a:t>
            </a:r>
          </a:p>
          <a:p>
            <a:pPr marL="457200" indent="-457200">
              <a:buFontTx/>
              <a:buChar char="-"/>
            </a:pPr>
            <a:r>
              <a:rPr lang="en-US" dirty="0"/>
              <a:t>Former </a:t>
            </a:r>
            <a:r>
              <a:rPr lang="en-US" dirty="0" err="1"/>
              <a:t>IBMer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6453F0-0A6C-C895-C568-77196B99C5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Event Locations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Seattle Public Library (5)</a:t>
            </a:r>
          </a:p>
          <a:p>
            <a:pPr marL="457200" indent="-457200">
              <a:buFontTx/>
              <a:buChar char="-"/>
            </a:pPr>
            <a:r>
              <a:rPr lang="en-US" dirty="0"/>
              <a:t>Community Center (1)</a:t>
            </a:r>
          </a:p>
          <a:p>
            <a:pPr marL="457200" indent="-457200">
              <a:buFontTx/>
              <a:buChar char="-"/>
            </a:pPr>
            <a:r>
              <a:rPr lang="en-US" dirty="0"/>
              <a:t>Local Brew House (1)</a:t>
            </a:r>
          </a:p>
          <a:p>
            <a:pPr marL="457200" indent="-457200">
              <a:buFontTx/>
              <a:buChar char="-"/>
            </a:pPr>
            <a:r>
              <a:rPr lang="en-US" dirty="0"/>
              <a:t>Zoom (1)</a:t>
            </a:r>
          </a:p>
          <a:p>
            <a:pPr marL="457200" indent="-457200">
              <a:buFontTx/>
              <a:buChar char="-"/>
            </a:pPr>
            <a:r>
              <a:rPr lang="en-US" dirty="0"/>
              <a:t>Meeting Space (1)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9B028-C63A-E86C-542E-0D7EC7BD6D8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029F7B-6BFD-7276-CC4B-877FEB89E6EE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0EAE8A7-2D35-9469-9036-AE2D3D2B0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4675" y="10109200"/>
            <a:ext cx="1892300" cy="189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5CD185-147A-C337-1A76-67FF580A4F33}"/>
              </a:ext>
            </a:extLst>
          </p:cNvPr>
          <p:cNvSpPr txBox="1"/>
          <p:nvPr/>
        </p:nvSpPr>
        <p:spPr>
          <a:xfrm>
            <a:off x="573151" y="6096000"/>
            <a:ext cx="9500135" cy="1398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BE95FF"/>
                </a:solidFill>
                <a:ea typeface="+mj-ea"/>
                <a:cs typeface="+mj-cs"/>
                <a:sym typeface="IBM Plex Sans Light"/>
              </a:rPr>
              <a:t>https://github.com/SeattleQuantumComputingMeetup/qiskit_fall_fest_2025</a:t>
            </a:r>
          </a:p>
        </p:txBody>
      </p:sp>
    </p:spTree>
    <p:extLst>
      <p:ext uri="{BB962C8B-B14F-4D97-AF65-F5344CB8AC3E}">
        <p14:creationId xmlns:p14="http://schemas.microsoft.com/office/powerpoint/2010/main" val="20956778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6A4A6-BFA6-4140-B1ED-1F00BB0D2D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dirty="0"/>
              <a:t>I am all-in on Quantum Computing. 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EDFC4-C9C9-2112-4D9D-362541F5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dirty="0"/>
              <a:t>I would like to attend something like this, and meet other interested people.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D3721-3096-C555-ADE3-C6C024CF3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dirty="0"/>
              <a:t>It didn’t exist.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0DC560-FF7F-9500-14CC-65574A232B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dirty="0"/>
              <a:t>It’s a win-win-…-win -&gt; for me, for the participants (near and far), for Seattle, for Quantum Computing, …, for IBM.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A592C4-BA9E-5690-A307-8B62A68987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F21C-27B5-5BD7-B916-D2EA3686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What?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C7A0B03C-A3AA-C4D2-5893-87ECE9BC2517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36602-67CE-96C1-8874-219512AB48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What made it successful?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576C3-E5F3-E003-50F0-F52E5B1339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The Seattle Quantum Computing Meetup group on meetup.com attracts eyes.</a:t>
            </a:r>
          </a:p>
          <a:p>
            <a:endParaRPr lang="en-US" dirty="0"/>
          </a:p>
          <a:p>
            <a:r>
              <a:rPr lang="en-US" dirty="0"/>
              <a:t>Flexibility allowed on participation – the participants chose different paths to the Winning Certificate: </a:t>
            </a:r>
          </a:p>
          <a:p>
            <a:pPr marL="457200" indent="-457200">
              <a:buAutoNum type="arabicParenR"/>
            </a:pPr>
            <a:r>
              <a:rPr lang="en-US" dirty="0"/>
              <a:t>coding </a:t>
            </a:r>
          </a:p>
          <a:p>
            <a:pPr marL="457200" indent="-457200">
              <a:buAutoNum type="arabicParenR"/>
            </a:pPr>
            <a:r>
              <a:rPr lang="en-US" dirty="0"/>
              <a:t>article writing </a:t>
            </a:r>
          </a:p>
          <a:p>
            <a:pPr marL="457200" indent="-457200">
              <a:buAutoNum type="arabicParenR"/>
            </a:pPr>
            <a:r>
              <a:rPr lang="en-US" dirty="0"/>
              <a:t>project proposal</a:t>
            </a:r>
          </a:p>
          <a:p>
            <a:endParaRPr lang="en-US" dirty="0"/>
          </a:p>
          <a:p>
            <a:r>
              <a:rPr lang="en-US" dirty="0"/>
              <a:t>Each event allowed newcomers to join at any point, and, so, did not depend on previous events.  </a:t>
            </a:r>
          </a:p>
          <a:p>
            <a:endParaRPr lang="en-US" dirty="0"/>
          </a:p>
          <a:p>
            <a:r>
              <a:rPr lang="en-US" dirty="0"/>
              <a:t>Participants liked being able to get a certificate from IBMQ.  </a:t>
            </a:r>
          </a:p>
          <a:p>
            <a:endParaRPr lang="en-US" dirty="0"/>
          </a:p>
          <a:p>
            <a:r>
              <a:rPr lang="en-US" dirty="0"/>
              <a:t>Nice materials w/the IBM QFF branding, organized, interesting content in the presentations, as well as in the coding notebooks and hackathon prompts, fun and friendly environment.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E009C93B-1E91-2729-0D6D-102D69C3BF88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CCCE-DF39-3BAB-0F35-D743DD761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What next 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1C034C-3694-08F0-0CDE-191D431A5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People are interested in:</a:t>
            </a:r>
          </a:p>
          <a:p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QC skills related to jobs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Working on a project together – maybe focus more on the hackathon topics and facilitate that path to a Winning Certificate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Provide an opportunity for participants to present something that they have learned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“Practice Makes Perfect” – with experience, I feel that I improve, and, so, will automatically adjust when hosting any future events</a:t>
            </a:r>
          </a:p>
          <a:p>
            <a:pPr marL="457200" indent="-457200">
              <a:buAutoNum type="arabicParenR"/>
            </a:pPr>
            <a:endParaRPr lang="en-US" dirty="0"/>
          </a:p>
          <a:p>
            <a:pPr marL="457200" indent="-457200">
              <a:buAutoNum type="arabicParenR"/>
            </a:pPr>
            <a:r>
              <a:rPr lang="en-US" dirty="0"/>
              <a:t>“Courage to Start” – with #4 in mind, it’s good to just get started!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F77BD6-8F53-AFCC-B005-6A5E46C3BA6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E768CD-CD10-DAC3-B1A4-852567B20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77850" y="10106213"/>
            <a:ext cx="1892302" cy="1892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789DC3-0B80-5CE5-79E3-DBA4B7D92179}"/>
              </a:ext>
            </a:extLst>
          </p:cNvPr>
          <p:cNvSpPr txBox="1"/>
          <p:nvPr/>
        </p:nvSpPr>
        <p:spPr>
          <a:xfrm>
            <a:off x="1299411" y="2473692"/>
            <a:ext cx="6237170" cy="22811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269CB-5076-6584-51D1-7B7021EA13CD}"/>
              </a:ext>
            </a:extLst>
          </p:cNvPr>
          <p:cNvSpPr txBox="1"/>
          <p:nvPr/>
        </p:nvSpPr>
        <p:spPr>
          <a:xfrm>
            <a:off x="577850" y="6538562"/>
            <a:ext cx="9384632" cy="1176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https://www.meetup.com/seattle-quantum-computing-meetup/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C874CB-C9DB-BDC4-A18C-FE00A783F62B}"/>
              </a:ext>
            </a:extLst>
          </p:cNvPr>
          <p:cNvSpPr txBox="1"/>
          <p:nvPr/>
        </p:nvSpPr>
        <p:spPr>
          <a:xfrm>
            <a:off x="570167" y="8220286"/>
            <a:ext cx="11039475" cy="21656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https://github.com/SeattleQuantumComputingMeetup/qiskit_fall_fest_2025</a:t>
            </a:r>
          </a:p>
        </p:txBody>
      </p:sp>
    </p:spTree>
    <p:extLst>
      <p:ext uri="{BB962C8B-B14F-4D97-AF65-F5344CB8AC3E}">
        <p14:creationId xmlns:p14="http://schemas.microsoft.com/office/powerpoint/2010/main" val="63766102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76976-2BA6-35F5-A03B-6D1D6B3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8A1B8-5B05-553C-D904-F7959C00A1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7D2C3-481B-FC7A-BBA0-DA0DBDB5A7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Events ran from: </a:t>
            </a:r>
          </a:p>
          <a:p>
            <a:r>
              <a:rPr lang="en-US" dirty="0"/>
              <a:t>Sep. 30 – Nov. 14, 2025</a:t>
            </a:r>
          </a:p>
          <a:p>
            <a:endParaRPr lang="en-US" dirty="0"/>
          </a:p>
          <a:p>
            <a:r>
              <a:rPr lang="en-US" dirty="0"/>
              <a:t>Most events were exclusively in-person in Seattle, WA.</a:t>
            </a:r>
          </a:p>
          <a:p>
            <a:endParaRPr lang="en-US" dirty="0"/>
          </a:p>
          <a:p>
            <a:r>
              <a:rPr lang="en-US" dirty="0"/>
              <a:t>One event was exclusively on Zoom.</a:t>
            </a:r>
          </a:p>
          <a:p>
            <a:endParaRPr lang="en-US" dirty="0"/>
          </a:p>
          <a:p>
            <a:r>
              <a:rPr lang="en-US" dirty="0"/>
              <a:t>Most of the participants live in the Seattle metro area.</a:t>
            </a:r>
          </a:p>
          <a:p>
            <a:endParaRPr lang="en-US" dirty="0"/>
          </a:p>
          <a:p>
            <a:r>
              <a:rPr lang="en-US" dirty="0"/>
              <a:t>Two events were ancillary quantum events in the community which occurred during the QFF window.</a:t>
            </a:r>
          </a:p>
          <a:p>
            <a:endParaRPr lang="en-US" dirty="0"/>
          </a:p>
          <a:p>
            <a:r>
              <a:rPr lang="en-US" dirty="0"/>
              <a:t>Our QFF was hosted on </a:t>
            </a:r>
            <a:r>
              <a:rPr lang="en-US" dirty="0" err="1"/>
              <a:t>github</a:t>
            </a:r>
            <a:r>
              <a:rPr lang="en-US" dirty="0"/>
              <a:t> on the Seattle Quantum Computing Meetup org page, and advertised at: </a:t>
            </a:r>
            <a:r>
              <a:rPr lang="en-US" dirty="0">
                <a:solidFill>
                  <a:srgbClr val="BE95FF"/>
                </a:solidFill>
              </a:rPr>
              <a:t>https://www.meetup.com/seattle-quantum-computing-meetup/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FC44BB-0EF8-A786-0FDD-54F2A1F353C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D9A419-704B-FEA5-017C-1DBC9500D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651412-4EA5-A6B7-DB42-AD4B66E04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3183" y="384048"/>
            <a:ext cx="5621864" cy="12963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5B8F96-2E22-3AA6-1137-B834FD554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058986"/>
            <a:ext cx="6232828" cy="36993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BE6DF6-CBD7-9127-903D-D152A34F1D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550" y="856793"/>
            <a:ext cx="6416933" cy="37375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25151C-6705-ED04-84F5-F402486199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550" y="9223037"/>
            <a:ext cx="7207620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6590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185256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2851</TotalTime>
  <Words>547</Words>
  <Application>Microsoft Office PowerPoint</Application>
  <PresentationFormat>Custom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IBM Plex Mono</vt:lpstr>
      <vt:lpstr>IBM Plex Sans</vt:lpstr>
      <vt:lpstr>IBM Plex Sans ExtLt</vt:lpstr>
      <vt:lpstr>IBM Plex Sans Light</vt:lpstr>
      <vt:lpstr>IBM Plex Sans Medm</vt:lpstr>
      <vt:lpstr>IBM presentation template</vt:lpstr>
      <vt:lpstr>Qiskit Fall Fest 2025 Event and Outcomes </vt:lpstr>
      <vt:lpstr>Qiskit Fall Fest 2025, a Seattle Community Event</vt:lpstr>
      <vt:lpstr>Why?</vt:lpstr>
      <vt:lpstr>What?</vt:lpstr>
      <vt:lpstr>Photos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  Sample layouts</dc:title>
  <dc:subject/>
  <dc:creator>NATALIE TAYLOR</dc:creator>
  <cp:keywords/>
  <dc:description/>
  <cp:lastModifiedBy>Natalie Hawkins</cp:lastModifiedBy>
  <cp:revision>44</cp:revision>
  <cp:lastPrinted>2019-04-25T15:14:05Z</cp:lastPrinted>
  <dcterms:created xsi:type="dcterms:W3CDTF">2024-04-30T19:03:56Z</dcterms:created>
  <dcterms:modified xsi:type="dcterms:W3CDTF">2026-05-16T06:41:54Z</dcterms:modified>
  <cp:category/>
</cp:coreProperties>
</file>